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Comfortaa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Comfortaa-bold.fntdata"/><Relationship Id="rId27" Type="http://schemas.openxmlformats.org/officeDocument/2006/relationships/font" Target="fonts/Comforta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aa2036179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aa2036179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aa203617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aa203617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aa2036179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aa2036179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aa2036179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aa2036179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add517d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add517d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add517d2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add517d2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add517d2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add517d2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7266d9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a7266d9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a7266d9b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a7266d9b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7266d9b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a7266d9b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a7266d9b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a7266d9b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a7266d9b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a7266d9b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7266d9b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a7266d9b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a7266d9b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a7266d9b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a7266d9b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a7266d9b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bc3601cc6_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bc3601cc6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34750" y="449552"/>
            <a:ext cx="7119300" cy="29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720">
                <a:latin typeface="Comfortaa"/>
                <a:ea typeface="Comfortaa"/>
                <a:cs typeface="Comfortaa"/>
                <a:sym typeface="Comfortaa"/>
              </a:rPr>
              <a:t>Bank of America: </a:t>
            </a:r>
            <a:endParaRPr b="1" sz="372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720">
                <a:latin typeface="Comfortaa"/>
                <a:ea typeface="Comfortaa"/>
                <a:cs typeface="Comfortaa"/>
                <a:sym typeface="Comfortaa"/>
              </a:rPr>
              <a:t>Global Banking, </a:t>
            </a:r>
            <a:endParaRPr b="1" sz="372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720">
                <a:latin typeface="Comfortaa"/>
                <a:ea typeface="Comfortaa"/>
                <a:cs typeface="Comfortaa"/>
                <a:sym typeface="Comfortaa"/>
              </a:rPr>
              <a:t>Commercial Loan, &amp; Leasing Technology </a:t>
            </a:r>
            <a:endParaRPr b="1" sz="372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720">
                <a:latin typeface="Comfortaa"/>
                <a:ea typeface="Comfortaa"/>
                <a:cs typeface="Comfortaa"/>
                <a:sym typeface="Comfortaa"/>
              </a:rPr>
              <a:t>Division</a:t>
            </a:r>
            <a:endParaRPr b="1" sz="372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34750" y="3585745"/>
            <a:ext cx="8222100" cy="8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Management Skills Group 1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Ava Wilmot, Ethan Wan, David Sobelman, Jay Atreya, &amp; Yantao Li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descr="Bank of America Logo and symbol, meaning, history, PNG, brand"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8286" y="1099337"/>
            <a:ext cx="2986915" cy="16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Company Access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189650" y="1919075"/>
            <a:ext cx="8382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We worked with Bank of America’s Global Banking, Commercial Loan, &amp; Leasing Technology Division based out of Pennington, New Jersey this semester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Our team’s primary contact was Senior VP/Project Manager Gregg Wilmot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○"/>
            </a:pPr>
            <a:r>
              <a:rPr b="1" lang="en" sz="1800">
                <a:latin typeface="Comfortaa"/>
                <a:ea typeface="Comfortaa"/>
                <a:cs typeface="Comfortaa"/>
                <a:sym typeface="Comfortaa"/>
              </a:rPr>
              <a:t>gregg.wilmot@boa.com/(609) 274-3294</a:t>
            </a:r>
            <a:endParaRPr b="1"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Our team’s secondary contact was VP/Programmer Analyst Paul Lane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9385" y="0"/>
            <a:ext cx="3134615" cy="176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Background Information &amp;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Secondary Data Research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0" y="1683125"/>
            <a:ext cx="9144000" cy="31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●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The Global Banking, Commercial Loan &amp; Leasing Technology Divisionis a </a:t>
            </a:r>
            <a:r>
              <a:rPr b="1" lang="en" sz="1150" u="sng">
                <a:highlight>
                  <a:srgbClr val="FFFF00"/>
                </a:highlight>
                <a:latin typeface="Comfortaa"/>
                <a:ea typeface="Comfortaa"/>
                <a:cs typeface="Comfortaa"/>
                <a:sym typeface="Comfortaa"/>
              </a:rPr>
              <a:t>cross-functional team</a:t>
            </a:r>
            <a:endParaRPr b="1" sz="1150" u="sng">
              <a:highlight>
                <a:srgbClr val="FFFF00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Consists of engineers, analysts, IT PMs, cybersecurity, etc.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Their main </a:t>
            </a: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strategy</a:t>
            </a: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 is to maintain secure lending systems while modernizing technology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●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Industry Context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Part of the “Big 4” U.S. banks, with their main </a:t>
            </a: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competitors</a:t>
            </a: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 being JPMorgan Chase, Wells Fargo, Citigroup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Finance/banking industry is shifting toward AI, cloud computing, and digital banking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Legacy systems still critical to operations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●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Key Trends/Data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High digital engagement (billions of logins, transactions, AI interactions)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AI driving productivity and operational efficiency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Hiring slowdowns &amp; economic pressure on smaller firms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●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Secondary Data Research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Microsoft: strong onboarding, mentorship improves integration of new engineers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ING: “squad/tribe” agile teams increase collaboration during tech transitions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Ford: failure to properly manage digital transformation creates major operational risk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3">
            <a:alphaModFix/>
          </a:blip>
          <a:srcRect b="23282" l="0" r="0" t="27518"/>
          <a:stretch/>
        </p:blipFill>
        <p:spPr>
          <a:xfrm>
            <a:off x="7642050" y="3805350"/>
            <a:ext cx="1323750" cy="434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 rotWithShape="1">
          <a:blip r:embed="rId4">
            <a:alphaModFix/>
          </a:blip>
          <a:srcRect b="19891" l="0" r="0" t="25820"/>
          <a:stretch/>
        </p:blipFill>
        <p:spPr>
          <a:xfrm>
            <a:off x="7705938" y="4085350"/>
            <a:ext cx="1195976" cy="36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7172" y="4450575"/>
            <a:ext cx="1013514" cy="36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ntech Fuels Global Payments | Andreessen Horowitz" id="86" name="Google Shape;8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5136" y="0"/>
            <a:ext cx="250886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Data Collection 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Methods &amp; Timeline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0" y="1683125"/>
            <a:ext cx="9144000" cy="31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●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Data Collection Methods: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○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Primary: manager interviews (qualitative insights)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○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Secondary: case studies + industry research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○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Team collaboration: question prep, discussion, and analysis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●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Timelines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○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2/21: Initial interview (Gregg Wilmot) → defined problem &amp; context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○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2/22-2/28: Secondary research → industry trends, legacy systems, onboarding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○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3/1: Follow-up interview (Gregg Wilmot &amp; Paul Lane) → staffing, training, migration challenges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○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Post 3/1: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2" marL="13716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■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Synthesized primary &amp; secondary data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2" marL="13716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■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Identified key themes: staffing gaps, knowledge transfer risk, transition timeline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2" marL="13716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■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Connected findings to course concepts (team effectiveness, organizational justice)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2" marL="13716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■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Refined problem statement and validated insights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descr="Data Collection Methods" id="93" name="Google Shape;93;p16"/>
          <p:cNvPicPr preferRelativeResize="0"/>
          <p:nvPr/>
        </p:nvPicPr>
        <p:blipFill rotWithShape="1">
          <a:blip r:embed="rId3">
            <a:alphaModFix/>
          </a:blip>
          <a:srcRect b="5848" l="0" r="0" t="5271"/>
          <a:stretch/>
        </p:blipFill>
        <p:spPr>
          <a:xfrm>
            <a:off x="6554825" y="0"/>
            <a:ext cx="2526450" cy="174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Output Problem &amp; 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Manager/Employee Perspective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0" y="1683125"/>
            <a:ext cx="9144000" cy="31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●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Core Issue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30-year-old legacy platform is maintained by 7 specialists (avg. age ~60)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Imminent retirements → 4-5 year knowledge transfer gap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●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Gregg Wilmot (Manager Perspective)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Concerned about losing SMEs before transition is complete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Limited resources to both maintain system and modernize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Identifies time constraint &amp; staffing shortage as biggest barriers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Responsible for ensuring system stability during transition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●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Paul Lane (Employee Perspective)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Notes his legacy expertise is short-term valuable but long-term uncertain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Concerned about balancing learning new system while supporting old one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Views transition process as unclear and potentially unfair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Feels pressure from workload and shifting skill demands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●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Overall Challenge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Maintain operations, transfer knowledge, and modernize system simultaneously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Font typeface="Comfortaa"/>
              <a:buChar char="○"/>
            </a:pPr>
            <a:r>
              <a:rPr b="1" lang="en" sz="1150">
                <a:latin typeface="Comfortaa"/>
                <a:ea typeface="Comfortaa"/>
                <a:cs typeface="Comfortaa"/>
                <a:sym typeface="Comfortaa"/>
              </a:rPr>
              <a:t>High risk of disruption if transition is not completed before retirements</a:t>
            </a:r>
            <a:endParaRPr b="1" sz="115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descr="Output management software solutions | Macro 4"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3700" y="94075"/>
            <a:ext cx="2490299" cy="15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Course Concept 1: 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Team Effectiveness Model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Comfortaa"/>
                <a:ea typeface="Comfortaa"/>
                <a:cs typeface="Comfortaa"/>
                <a:sym typeface="Comfortaa"/>
              </a:rPr>
              <a:t>Is a team effective?</a:t>
            </a:r>
            <a:endParaRPr b="1" sz="21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Font typeface="Comfortaa"/>
              <a:buAutoNum type="alphaLcPeriod"/>
            </a:pPr>
            <a:r>
              <a:rPr b="1" lang="en" sz="1800">
                <a:latin typeface="Comfortaa"/>
                <a:ea typeface="Comfortaa"/>
                <a:cs typeface="Comfortaa"/>
                <a:sym typeface="Comfortaa"/>
              </a:rPr>
              <a:t>Context: General background information</a:t>
            </a:r>
            <a:endParaRPr b="1"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AutoNum type="alphaLcPeriod"/>
            </a:pPr>
            <a:r>
              <a:rPr b="1" lang="en" sz="1800">
                <a:latin typeface="Comfortaa"/>
                <a:ea typeface="Comfortaa"/>
                <a:cs typeface="Comfortaa"/>
                <a:sym typeface="Comfortaa"/>
              </a:rPr>
              <a:t>Team Composition: Constructing/deconstructing team for project</a:t>
            </a:r>
            <a:endParaRPr b="1"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AutoNum type="alphaLcPeriod"/>
            </a:pPr>
            <a:r>
              <a:rPr b="1" lang="en" sz="1800">
                <a:latin typeface="Comfortaa"/>
                <a:ea typeface="Comfortaa"/>
                <a:cs typeface="Comfortaa"/>
                <a:sym typeface="Comfortaa"/>
              </a:rPr>
              <a:t>Work Design: Analyze task in relation to team.</a:t>
            </a:r>
            <a:endParaRPr b="1"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AutoNum type="alphaLcPeriod"/>
            </a:pPr>
            <a:r>
              <a:rPr b="1" lang="en" sz="1800">
                <a:latin typeface="Comfortaa"/>
                <a:ea typeface="Comfortaa"/>
                <a:cs typeface="Comfortaa"/>
                <a:sym typeface="Comfortaa"/>
              </a:rPr>
              <a:t>Process: How the team will </a:t>
            </a:r>
            <a:r>
              <a:rPr b="1" lang="en" sz="1800">
                <a:latin typeface="Comfortaa"/>
                <a:ea typeface="Comfortaa"/>
                <a:cs typeface="Comfortaa"/>
                <a:sym typeface="Comfortaa"/>
              </a:rPr>
              <a:t>complete</a:t>
            </a:r>
            <a:r>
              <a:rPr b="1" lang="en" sz="1800">
                <a:latin typeface="Comfortaa"/>
                <a:ea typeface="Comfortaa"/>
                <a:cs typeface="Comfortaa"/>
                <a:sym typeface="Comfortaa"/>
              </a:rPr>
              <a:t> the task.</a:t>
            </a:r>
            <a:endParaRPr b="1" sz="1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descr="Teamwork Is An Individual Skill | Leading For Change"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1150" y="47625"/>
            <a:ext cx="3131450" cy="17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Output Problem &amp; Team 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Effectiveness Model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778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rabicPeriod"/>
            </a:pPr>
            <a:r>
              <a:rPr b="1" lang="en" sz="2029">
                <a:latin typeface="Comfortaa"/>
                <a:ea typeface="Comfortaa"/>
                <a:cs typeface="Comfortaa"/>
                <a:sym typeface="Comfortaa"/>
              </a:rPr>
              <a:t>Context: </a:t>
            </a:r>
            <a:endParaRPr b="1" sz="2029">
              <a:latin typeface="Comfortaa"/>
              <a:ea typeface="Comfortaa"/>
              <a:cs typeface="Comfortaa"/>
              <a:sym typeface="Comfortaa"/>
            </a:endParaRPr>
          </a:p>
          <a:p>
            <a:pPr indent="-347780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lphaLcPeriod"/>
            </a:pPr>
            <a:r>
              <a:rPr b="1" lang="en" sz="2029">
                <a:latin typeface="Comfortaa"/>
                <a:ea typeface="Comfortaa"/>
                <a:cs typeface="Comfortaa"/>
                <a:sym typeface="Comfortaa"/>
              </a:rPr>
              <a:t>30 year old system -&gt; New software</a:t>
            </a:r>
            <a:endParaRPr b="1" sz="2029">
              <a:latin typeface="Comfortaa"/>
              <a:ea typeface="Comfortaa"/>
              <a:cs typeface="Comfortaa"/>
              <a:sym typeface="Comfortaa"/>
            </a:endParaRPr>
          </a:p>
          <a:p>
            <a:pPr indent="-347780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lphaLcPeriod"/>
            </a:pPr>
            <a:r>
              <a:rPr b="1" lang="en" sz="2029">
                <a:latin typeface="Comfortaa"/>
                <a:ea typeface="Comfortaa"/>
                <a:cs typeface="Comfortaa"/>
                <a:sym typeface="Comfortaa"/>
              </a:rPr>
              <a:t>Lack of resource and support for team</a:t>
            </a:r>
            <a:endParaRPr b="1" sz="2029">
              <a:latin typeface="Comfortaa"/>
              <a:ea typeface="Comfortaa"/>
              <a:cs typeface="Comfortaa"/>
              <a:sym typeface="Comfortaa"/>
            </a:endParaRPr>
          </a:p>
          <a:p>
            <a:pPr indent="-347780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lphaLcPeriod"/>
            </a:pPr>
            <a:r>
              <a:rPr b="1" lang="en" sz="2029">
                <a:latin typeface="Comfortaa"/>
                <a:ea typeface="Comfortaa"/>
                <a:cs typeface="Comfortaa"/>
                <a:sym typeface="Comfortaa"/>
              </a:rPr>
              <a:t>Strict Deadline</a:t>
            </a:r>
            <a:endParaRPr b="1" sz="2029">
              <a:latin typeface="Comfortaa"/>
              <a:ea typeface="Comfortaa"/>
              <a:cs typeface="Comfortaa"/>
              <a:sym typeface="Comfortaa"/>
            </a:endParaRPr>
          </a:p>
          <a:p>
            <a:pPr indent="-34778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rabicPeriod"/>
            </a:pPr>
            <a:r>
              <a:rPr b="1" lang="en" sz="2029">
                <a:latin typeface="Comfortaa"/>
                <a:ea typeface="Comfortaa"/>
                <a:cs typeface="Comfortaa"/>
                <a:sym typeface="Comfortaa"/>
              </a:rPr>
              <a:t>Team Composition</a:t>
            </a:r>
            <a:endParaRPr b="1" sz="2029">
              <a:latin typeface="Comfortaa"/>
              <a:ea typeface="Comfortaa"/>
              <a:cs typeface="Comfortaa"/>
              <a:sym typeface="Comfortaa"/>
            </a:endParaRPr>
          </a:p>
          <a:p>
            <a:pPr indent="-347780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lphaLcPeriod"/>
            </a:pPr>
            <a:r>
              <a:rPr b="1" lang="en" sz="2029">
                <a:latin typeface="Comfortaa"/>
                <a:ea typeface="Comfortaa"/>
                <a:cs typeface="Comfortaa"/>
                <a:sym typeface="Comfortaa"/>
              </a:rPr>
              <a:t>Lack of diversity</a:t>
            </a:r>
            <a:endParaRPr b="1" sz="2029">
              <a:latin typeface="Comfortaa"/>
              <a:ea typeface="Comfortaa"/>
              <a:cs typeface="Comfortaa"/>
              <a:sym typeface="Comfortaa"/>
            </a:endParaRPr>
          </a:p>
          <a:p>
            <a:pPr indent="-347780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lphaLcPeriod"/>
            </a:pPr>
            <a:r>
              <a:rPr b="1" lang="en" sz="2029">
                <a:latin typeface="Comfortaa"/>
                <a:ea typeface="Comfortaa"/>
                <a:cs typeface="Comfortaa"/>
                <a:sym typeface="Comfortaa"/>
              </a:rPr>
              <a:t>Small team of SMEs</a:t>
            </a:r>
            <a:endParaRPr b="1" sz="2029">
              <a:latin typeface="Comfortaa"/>
              <a:ea typeface="Comfortaa"/>
              <a:cs typeface="Comfortaa"/>
              <a:sym typeface="Comfortaa"/>
            </a:endParaRPr>
          </a:p>
          <a:p>
            <a:pPr indent="-347780" lvl="2" marL="13716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romanLcPeriod"/>
            </a:pPr>
            <a:r>
              <a:rPr b="1" lang="en" sz="2029">
                <a:latin typeface="Comfortaa"/>
                <a:ea typeface="Comfortaa"/>
                <a:cs typeface="Comfortaa"/>
                <a:sym typeface="Comfortaa"/>
              </a:rPr>
              <a:t>ING &amp; Microsoft</a:t>
            </a:r>
            <a:endParaRPr b="1" sz="2029">
              <a:latin typeface="Comfortaa"/>
              <a:ea typeface="Comfortaa"/>
              <a:cs typeface="Comfortaa"/>
              <a:sym typeface="Comfortaa"/>
            </a:endParaRPr>
          </a:p>
          <a:p>
            <a:pPr indent="-347780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lphaLcPeriod"/>
            </a:pPr>
            <a:r>
              <a:rPr b="1" lang="en" sz="2029">
                <a:latin typeface="Comfortaa"/>
                <a:ea typeface="Comfortaa"/>
                <a:cs typeface="Comfortaa"/>
                <a:sym typeface="Comfortaa"/>
              </a:rPr>
              <a:t>Onboarding is a necessity</a:t>
            </a:r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8450" y="3236493"/>
            <a:ext cx="1594075" cy="158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am Effectiveness - Birkman Australia"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9776" y="-144250"/>
            <a:ext cx="2829774" cy="20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 rotWithShape="1">
          <a:blip r:embed="rId5">
            <a:alphaModFix/>
          </a:blip>
          <a:srcRect b="19891" l="0" r="0" t="25820"/>
          <a:stretch/>
        </p:blipFill>
        <p:spPr>
          <a:xfrm>
            <a:off x="6849284" y="2638426"/>
            <a:ext cx="2128850" cy="6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Output Problem &amp; Team 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Effectiveness Model (continued)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AutoNum type="arabicPeriod" startAt="3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Work Design: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AutoNum type="alphaLcPeriod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Split focus within the project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AutoNum type="romanLcPeriod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Complications for managers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AutoNum type="romanLcPeriod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Tony Lane: employees work design simple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AutoNum type="alphaLcPeriod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Deadline presents potential conflicts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AutoNum type="romanLcPeriod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Hershey and GE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AutoNum type="arabicPeriod" startAt="3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Process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AutoNum type="alphaLcPeriod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Current path is still unclear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AutoNum type="alphaLcPeriod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Take research into account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AutoNum type="romanLcPeriod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No shortcuts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0625" y="3510025"/>
            <a:ext cx="4733373" cy="1338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l - eTACSEN" id="124" name="Google Shape;1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0850" y="-95150"/>
            <a:ext cx="2453150" cy="177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Course Concept 2: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Organizational Justice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400">
                <a:latin typeface="Comfortaa"/>
                <a:ea typeface="Comfortaa"/>
                <a:cs typeface="Comfortaa"/>
                <a:sym typeface="Comfortaa"/>
              </a:rPr>
              <a:t>Understanding Organizational Justice</a:t>
            </a:r>
            <a:endParaRPr b="1" sz="6400">
              <a:latin typeface="Comfortaa"/>
              <a:ea typeface="Comfortaa"/>
              <a:cs typeface="Comfortaa"/>
              <a:sym typeface="Comfortaa"/>
            </a:endParaRPr>
          </a:p>
          <a:p>
            <a:pPr indent="-3204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b="1" lang="en" sz="4450">
                <a:latin typeface="Comfortaa"/>
                <a:ea typeface="Comfortaa"/>
                <a:cs typeface="Comfortaa"/>
                <a:sym typeface="Comfortaa"/>
              </a:rPr>
              <a:t>Organizational justice refers to how fair employees believe the organization is</a:t>
            </a:r>
            <a:endParaRPr b="1" sz="4450">
              <a:latin typeface="Comfortaa"/>
              <a:ea typeface="Comfortaa"/>
              <a:cs typeface="Comfortaa"/>
              <a:sym typeface="Comfortaa"/>
            </a:endParaRPr>
          </a:p>
          <a:p>
            <a:pPr indent="-3204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b="1" lang="en" sz="4450">
                <a:latin typeface="Comfortaa"/>
                <a:ea typeface="Comfortaa"/>
                <a:cs typeface="Comfortaa"/>
                <a:sym typeface="Comfortaa"/>
              </a:rPr>
              <a:t>Distributive Justice focuses on fair workload, rewards, and responsibilities</a:t>
            </a:r>
            <a:endParaRPr b="1" sz="4450">
              <a:latin typeface="Comfortaa"/>
              <a:ea typeface="Comfortaa"/>
              <a:cs typeface="Comfortaa"/>
              <a:sym typeface="Comfortaa"/>
            </a:endParaRPr>
          </a:p>
          <a:p>
            <a:pPr indent="-3204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b="1" lang="en" sz="4450">
                <a:latin typeface="Comfortaa"/>
                <a:ea typeface="Comfortaa"/>
                <a:cs typeface="Comfortaa"/>
                <a:sym typeface="Comfortaa"/>
              </a:rPr>
              <a:t>Procedural Justice focuses on fair and transparent decision making</a:t>
            </a:r>
            <a:endParaRPr b="1" sz="4450">
              <a:latin typeface="Comfortaa"/>
              <a:ea typeface="Comfortaa"/>
              <a:cs typeface="Comfortaa"/>
              <a:sym typeface="Comfortaa"/>
            </a:endParaRPr>
          </a:p>
          <a:p>
            <a:pPr indent="-3204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b="1" lang="en" sz="4450">
                <a:latin typeface="Comfortaa"/>
                <a:ea typeface="Comfortaa"/>
                <a:cs typeface="Comfortaa"/>
                <a:sym typeface="Comfortaa"/>
              </a:rPr>
              <a:t>Interactional Justice focuses on respectful treatment and clear communication.</a:t>
            </a:r>
            <a:endParaRPr b="1" sz="445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45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Justice - Free social icons"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3575" y="0"/>
            <a:ext cx="1700425" cy="17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282450" y="3733800"/>
            <a:ext cx="8601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lt2"/>
                </a:solidFill>
                <a:latin typeface="Comfortaa"/>
                <a:ea typeface="Comfortaa"/>
                <a:cs typeface="Comfortaa"/>
                <a:sym typeface="Comfortaa"/>
              </a:rPr>
              <a:t>When employees feel fairness, trust and motivation usually increase. This concept is important during changes/system transitions and helps explain the employee side of organizational change.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Output Problem &amp; Organizational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Justice (continued)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AutoNum type="alphaLcPeriod"/>
            </a:pP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Small expert team: Only seven employees are responsible for maintaining the critical legacy system.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AutoNum type="alphaLcPeriod"/>
            </a:pP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Heavy workload pressure: Because the team is so small, responsibilities and daily pressure are placed on a limited number of specialists.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AutoNum type="alphaLcPeriod"/>
            </a:pP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Retirement risk: As experienced employees retire, the remaining staff may face even greater pressure and knowledge loss.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AutoNum type="alphaLcPeriod"/>
            </a:pP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Unclear transition process: Employees may feel uncertain if the roadmap to the new system is not clearly explained.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AutoNum type="alphaLcPeriod"/>
            </a:pP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Limited employee input: If workers are not involved in planning decisions, they may question leadership choices.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AutoNum type="alphaLcPeriod"/>
            </a:pP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Impact on fairness: These issues can lower morale, increase stress, and reduce confidence during the transition.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descr="Speaking Up | CEVA Logistics" id="139" name="Google Shape;139;p22"/>
          <p:cNvPicPr preferRelativeResize="0"/>
          <p:nvPr/>
        </p:nvPicPr>
        <p:blipFill rotWithShape="1">
          <a:blip r:embed="rId3">
            <a:alphaModFix/>
          </a:blip>
          <a:srcRect b="0" l="3624" r="0" t="0"/>
          <a:stretch/>
        </p:blipFill>
        <p:spPr>
          <a:xfrm>
            <a:off x="7372350" y="-85725"/>
            <a:ext cx="177165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Comfortaa"/>
              <a:buAutoNum type="alphaLcPeriod"/>
            </a:pPr>
            <a:r>
              <a:rPr b="1" lang="en" sz="5600">
                <a:latin typeface="Comfortaa"/>
                <a:ea typeface="Comfortaa"/>
                <a:cs typeface="Comfortaa"/>
                <a:sym typeface="Comfortaa"/>
              </a:rPr>
              <a:t>Communication matters: Clear communication is important during a major system transition.</a:t>
            </a:r>
            <a:endParaRPr b="1" sz="5600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lphaLcPeriod"/>
            </a:pPr>
            <a:r>
              <a:rPr b="1" lang="en" sz="5600">
                <a:latin typeface="Comfortaa"/>
                <a:ea typeface="Comfortaa"/>
                <a:cs typeface="Comfortaa"/>
                <a:sym typeface="Comfortaa"/>
              </a:rPr>
              <a:t>Regular updates: Frequent updates can reduce uncertainty and help employees understand what comes next.</a:t>
            </a:r>
            <a:endParaRPr b="1" sz="5600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lphaLcPeriod"/>
            </a:pPr>
            <a:r>
              <a:rPr b="1" lang="en" sz="5600">
                <a:latin typeface="Comfortaa"/>
                <a:ea typeface="Comfortaa"/>
                <a:cs typeface="Comfortaa"/>
                <a:sym typeface="Comfortaa"/>
              </a:rPr>
              <a:t>Value current experts: Employees with knowledge of the old system should feel respected and included in the transition process.</a:t>
            </a:r>
            <a:endParaRPr b="1" sz="5600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lphaLcPeriod"/>
            </a:pPr>
            <a:r>
              <a:rPr b="1" lang="en" sz="5600">
                <a:latin typeface="Comfortaa"/>
                <a:ea typeface="Comfortaa"/>
                <a:cs typeface="Comfortaa"/>
                <a:sym typeface="Comfortaa"/>
              </a:rPr>
              <a:t>Transparent leadership: Honest leadership can build trust and reduce resistance to change.</a:t>
            </a:r>
            <a:endParaRPr b="1" sz="5600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lphaLcPeriod"/>
            </a:pPr>
            <a:r>
              <a:rPr b="1" lang="en" sz="5600">
                <a:latin typeface="Comfortaa"/>
                <a:ea typeface="Comfortaa"/>
                <a:cs typeface="Comfortaa"/>
                <a:sym typeface="Comfortaa"/>
              </a:rPr>
              <a:t>Positive team impact: When employees feel supported, morale and teamwork are usually stronger.</a:t>
            </a:r>
            <a:endParaRPr b="1" sz="5600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lphaLcPeriod"/>
            </a:pPr>
            <a:r>
              <a:rPr b="1" lang="en" sz="5600">
                <a:latin typeface="Comfortaa"/>
                <a:ea typeface="Comfortaa"/>
                <a:cs typeface="Comfortaa"/>
                <a:sym typeface="Comfortaa"/>
              </a:rPr>
              <a:t>Better results: Fair treatment and strong communication can help Bank of America complete a smoother modernization process.</a:t>
            </a:r>
            <a:endParaRPr b="1" sz="5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Output Problem &amp; Organizational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Justice (continued)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descr="Two hands holding a scale of justice 51341063 PNG"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75" y="0"/>
            <a:ext cx="1914525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471900" y="738725"/>
            <a:ext cx="61308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latin typeface="Comfortaa"/>
                <a:ea typeface="Comfortaa"/>
                <a:cs typeface="Comfortaa"/>
                <a:sym typeface="Comfortaa"/>
              </a:rPr>
              <a:t>Description &amp; Details </a:t>
            </a:r>
            <a:endParaRPr b="1" sz="285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b="1" lang="en" sz="2850">
                <a:latin typeface="Comfortaa"/>
                <a:ea typeface="Comfortaa"/>
                <a:cs typeface="Comfortaa"/>
                <a:sym typeface="Comfortaa"/>
              </a:rPr>
              <a:t>of First Recommendation</a:t>
            </a:r>
            <a:endParaRPr b="1" sz="285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460950" y="1929950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●"/>
            </a:pP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Hire and train new employees on the legacy system to prepare for retiring experts and knowledge loss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Ensures new employees fully understand the legacy system to maintain operations, hold the company afloat, and prevent system failure during the transition 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●"/>
            </a:pP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Addresses Team Effectiveness Model weaknesses: 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○"/>
            </a:pPr>
            <a:r>
              <a:rPr b="1" lang="en" sz="1300" u="sng">
                <a:latin typeface="Comfortaa"/>
                <a:ea typeface="Comfortaa"/>
                <a:cs typeface="Comfortaa"/>
                <a:sym typeface="Comfortaa"/>
              </a:rPr>
              <a:t>Context: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 understaffed team 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b="1" lang="en" sz="1300" u="sng">
                <a:latin typeface="Comfortaa"/>
                <a:ea typeface="Comfortaa"/>
                <a:cs typeface="Comfortaa"/>
                <a:sym typeface="Comfortaa"/>
              </a:rPr>
              <a:t>Team Composition: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 limited legacy system expertise 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b="1" lang="en" sz="1300" u="sng">
                <a:latin typeface="Comfortaa"/>
                <a:ea typeface="Comfortaa"/>
                <a:cs typeface="Comfortaa"/>
                <a:sym typeface="Comfortaa"/>
              </a:rPr>
              <a:t>Work Design: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 small team with high responsibility, causes increased pressure 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b="1" lang="en" sz="1300" u="sng">
                <a:latin typeface="Comfortaa"/>
                <a:ea typeface="Comfortaa"/>
                <a:cs typeface="Comfortaa"/>
                <a:sym typeface="Comfortaa"/>
              </a:rPr>
              <a:t>Process: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 no clearly defined transition plan 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●"/>
            </a:pP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Supports a smoother migration by maintaining stability while transitioning to a new system 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53" name="Google Shape;153;p24"/>
          <p:cNvPicPr preferRelativeResize="0"/>
          <p:nvPr/>
        </p:nvPicPr>
        <p:blipFill rotWithShape="1">
          <a:blip r:embed="rId3">
            <a:alphaModFix/>
          </a:blip>
          <a:srcRect b="0" l="8371" r="4071" t="0"/>
          <a:stretch/>
        </p:blipFill>
        <p:spPr>
          <a:xfrm>
            <a:off x="6602700" y="108750"/>
            <a:ext cx="2209044" cy="15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471900" y="738725"/>
            <a:ext cx="70878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2850">
                <a:latin typeface="Comfortaa"/>
                <a:ea typeface="Comfortaa"/>
                <a:cs typeface="Comfortaa"/>
                <a:sym typeface="Comfortaa"/>
              </a:rPr>
              <a:t>Best Practices and Potential Downsides of First Recommendation</a:t>
            </a:r>
            <a:endParaRPr b="1" sz="285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4572000" y="1689850"/>
            <a:ext cx="45720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latin typeface="Comfortaa"/>
                <a:ea typeface="Comfortaa"/>
                <a:cs typeface="Comfortaa"/>
                <a:sym typeface="Comfortaa"/>
              </a:rPr>
              <a:t>Potential Downsides</a:t>
            </a:r>
            <a:endParaRPr b="1" sz="4300">
              <a:latin typeface="Comfortaa"/>
              <a:ea typeface="Comfortaa"/>
              <a:cs typeface="Comfortaa"/>
              <a:sym typeface="Comfortaa"/>
            </a:endParaRPr>
          </a:p>
          <a:p>
            <a:pPr indent="-297974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b="1" lang="en" sz="2300">
                <a:latin typeface="Comfortaa"/>
                <a:ea typeface="Comfortaa"/>
                <a:cs typeface="Comfortaa"/>
                <a:sym typeface="Comfortaa"/>
              </a:rPr>
              <a:t>May not work effectively: 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  <a:p>
            <a:pPr indent="-297974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○"/>
            </a:pPr>
            <a:r>
              <a:rPr b="1" lang="en" sz="2300">
                <a:latin typeface="Comfortaa"/>
                <a:ea typeface="Comfortaa"/>
                <a:cs typeface="Comfortaa"/>
                <a:sym typeface="Comfortaa"/>
              </a:rPr>
              <a:t>Legacy system is outdated and highly specialized so it’s difficult for new hires to learn quickly 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  <a:p>
            <a:pPr indent="-297974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○"/>
            </a:pPr>
            <a:r>
              <a:rPr b="1" lang="en" sz="2300">
                <a:latin typeface="Comfortaa"/>
                <a:ea typeface="Comfortaa"/>
                <a:cs typeface="Comfortaa"/>
                <a:sym typeface="Comfortaa"/>
              </a:rPr>
              <a:t>Training process may take too long to have immediate impact 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  <a:p>
            <a:pPr indent="-297974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b="1" lang="en" sz="2300">
                <a:latin typeface="Comfortaa"/>
                <a:ea typeface="Comfortaa"/>
                <a:cs typeface="Comfortaa"/>
                <a:sym typeface="Comfortaa"/>
              </a:rPr>
              <a:t>Costs: 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  <a:p>
            <a:pPr indent="-297974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○"/>
            </a:pPr>
            <a:r>
              <a:rPr b="1" lang="en" sz="2300">
                <a:latin typeface="Comfortaa"/>
                <a:ea typeface="Comfortaa"/>
                <a:cs typeface="Comfortaa"/>
                <a:sym typeface="Comfortaa"/>
              </a:rPr>
              <a:t>Hiring and training expenses (recruitment, training programs, time investment) 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  <a:p>
            <a:pPr indent="-297974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○"/>
            </a:pPr>
            <a:r>
              <a:rPr b="1" lang="en" sz="2300">
                <a:latin typeface="Comfortaa"/>
                <a:ea typeface="Comfortaa"/>
                <a:cs typeface="Comfortaa"/>
                <a:sym typeface="Comfortaa"/>
              </a:rPr>
              <a:t>Existing employees must spend time training and they might demand additional pay 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  <a:p>
            <a:pPr indent="-297974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b="1" lang="en" sz="2300">
                <a:latin typeface="Comfortaa"/>
                <a:ea typeface="Comfortaa"/>
                <a:cs typeface="Comfortaa"/>
                <a:sym typeface="Comfortaa"/>
              </a:rPr>
              <a:t>Potential unintended consequences: 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  <a:p>
            <a:pPr indent="-297974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○"/>
            </a:pPr>
            <a:r>
              <a:rPr b="1" lang="en" sz="2300">
                <a:latin typeface="Comfortaa"/>
                <a:ea typeface="Comfortaa"/>
                <a:cs typeface="Comfortaa"/>
                <a:sym typeface="Comfortaa"/>
              </a:rPr>
              <a:t>Increased pressure on current team during training period 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  <a:p>
            <a:pPr indent="-297974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○"/>
            </a:pPr>
            <a:r>
              <a:rPr b="1" lang="en" sz="2300">
                <a:latin typeface="Comfortaa"/>
                <a:ea typeface="Comfortaa"/>
                <a:cs typeface="Comfortaa"/>
                <a:sym typeface="Comfortaa"/>
              </a:rPr>
              <a:t>Risk of burnout, dissatisfaction, or quitting 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0" y="1689850"/>
            <a:ext cx="45720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Comfortaa"/>
                <a:ea typeface="Comfortaa"/>
                <a:cs typeface="Comfortaa"/>
                <a:sym typeface="Comfortaa"/>
              </a:rPr>
              <a:t>Best Practices</a:t>
            </a:r>
            <a:endParaRPr b="1" sz="2700">
              <a:latin typeface="Comfortaa"/>
              <a:ea typeface="Comfortaa"/>
              <a:cs typeface="Comfortaa"/>
              <a:sym typeface="Comfortaa"/>
            </a:endParaRPr>
          </a:p>
          <a:p>
            <a:pPr indent="-341789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b="1" lang="en" sz="2300">
                <a:latin typeface="Comfortaa"/>
                <a:ea typeface="Comfortaa"/>
                <a:cs typeface="Comfortaa"/>
                <a:sym typeface="Comfortaa"/>
              </a:rPr>
              <a:t>ING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  <a:p>
            <a:pPr indent="-341789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○"/>
            </a:pPr>
            <a:r>
              <a:rPr b="1" lang="en" sz="2300">
                <a:latin typeface="Comfortaa"/>
                <a:ea typeface="Comfortaa"/>
                <a:cs typeface="Comfortaa"/>
                <a:sym typeface="Comfortaa"/>
              </a:rPr>
              <a:t>Cross-functional teams, which improved collaboration and flexibility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  <a:p>
            <a:pPr indent="-34178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b="1" lang="en" sz="2300">
                <a:latin typeface="Comfortaa"/>
                <a:ea typeface="Comfortaa"/>
                <a:cs typeface="Comfortaa"/>
                <a:sym typeface="Comfortaa"/>
              </a:rPr>
              <a:t>Microsoft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  <a:p>
            <a:pPr indent="-341789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○"/>
            </a:pPr>
            <a:r>
              <a:rPr b="1" lang="en" sz="2300">
                <a:latin typeface="Comfortaa"/>
                <a:ea typeface="Comfortaa"/>
                <a:cs typeface="Comfortaa"/>
                <a:sym typeface="Comfortaa"/>
              </a:rPr>
              <a:t>Clear guidance from management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  <a:p>
            <a:pPr indent="-341789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○"/>
            </a:pPr>
            <a:r>
              <a:rPr b="1" lang="en" sz="2300">
                <a:latin typeface="Comfortaa"/>
                <a:ea typeface="Comfortaa"/>
                <a:cs typeface="Comfortaa"/>
                <a:sym typeface="Comfortaa"/>
              </a:rPr>
              <a:t>More effective in adapting to work environment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471900" y="738725"/>
            <a:ext cx="61308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2850">
                <a:latin typeface="Comfortaa"/>
                <a:ea typeface="Comfortaa"/>
                <a:cs typeface="Comfortaa"/>
                <a:sym typeface="Comfortaa"/>
              </a:rPr>
              <a:t>Description &amp; Details of Second Recommendation</a:t>
            </a:r>
            <a:endParaRPr b="1" sz="285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460950" y="1788600"/>
            <a:ext cx="8222100" cy="32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●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Address fairness concerns using Organizational Justice to prevent frustration, low engagement, and resistance during the transition 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●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Distributive Justice: 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Char char="○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Bring in temporary support from other departments to handle less specialized tasks 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Char char="○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Reduces pressure on the small legacy team, which is currently carrying an unfairly heavy workload due to limited staffing and expertise </a:t>
            </a: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●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Procedural Justice: 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○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Involve legacy system employees in transition and training decisions 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○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Increases transparency and reduces confusion from the lack of a structured plan 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●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Interactional Justice: 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○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Improve communication through consistent updates and clear expectations 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○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Ensures employees feel informed, valued, and included </a:t>
            </a: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Font typeface="Comfortaa"/>
              <a:buChar char="●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Promotes fairness in workload, decision-making, and communication </a:t>
            </a:r>
            <a:endParaRPr b="1" sz="1250">
              <a:latin typeface="Comfortaa"/>
              <a:ea typeface="Comfortaa"/>
              <a:cs typeface="Comfortaa"/>
              <a:sym typeface="Comfortaa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omfortaa"/>
              <a:buChar char="●"/>
            </a:pPr>
            <a:r>
              <a:rPr b="1" lang="en" sz="1250">
                <a:latin typeface="Comfortaa"/>
                <a:ea typeface="Comfortaa"/>
                <a:cs typeface="Comfortaa"/>
                <a:sym typeface="Comfortaa"/>
              </a:rPr>
              <a:t>Reduces resistance and supports a smoother system transition</a:t>
            </a:r>
            <a:r>
              <a:rPr lang="en" sz="125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" sz="125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125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 rotWithShape="1">
          <a:blip r:embed="rId3">
            <a:alphaModFix/>
          </a:blip>
          <a:srcRect b="7106" l="0" r="0" t="0"/>
          <a:stretch/>
        </p:blipFill>
        <p:spPr>
          <a:xfrm>
            <a:off x="6602700" y="-60900"/>
            <a:ext cx="2207601" cy="1730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471900" y="738725"/>
            <a:ext cx="79794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latin typeface="Comfortaa"/>
                <a:ea typeface="Comfortaa"/>
                <a:cs typeface="Comfortaa"/>
                <a:sym typeface="Comfortaa"/>
              </a:rPr>
              <a:t>Best Practices &amp; Potential Downsides </a:t>
            </a:r>
            <a:endParaRPr b="1" sz="285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latin typeface="Comfortaa"/>
                <a:ea typeface="Comfortaa"/>
                <a:cs typeface="Comfortaa"/>
                <a:sym typeface="Comfortaa"/>
              </a:rPr>
              <a:t>of Second Recommendation</a:t>
            </a:r>
            <a:endParaRPr b="1" sz="285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4572000" y="1689850"/>
            <a:ext cx="45720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latin typeface="Comfortaa"/>
                <a:ea typeface="Comfortaa"/>
                <a:cs typeface="Comfortaa"/>
                <a:sym typeface="Comfortaa"/>
              </a:rPr>
              <a:t>Potential Downsides</a:t>
            </a:r>
            <a:endParaRPr b="1" sz="1750">
              <a:latin typeface="Comfortaa"/>
              <a:ea typeface="Comfortaa"/>
              <a:cs typeface="Comfortaa"/>
              <a:sym typeface="Comfortaa"/>
            </a:endParaRPr>
          </a:p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SzPts val="1050"/>
              <a:buFont typeface="Comfortaa"/>
              <a:buChar char="●"/>
            </a:pPr>
            <a:r>
              <a:rPr b="1" lang="en" sz="1050">
                <a:latin typeface="Comfortaa"/>
                <a:ea typeface="Comfortaa"/>
                <a:cs typeface="Comfortaa"/>
                <a:sym typeface="Comfortaa"/>
              </a:rPr>
              <a:t>May not work effectively: </a:t>
            </a:r>
            <a:endParaRPr b="1" sz="1050">
              <a:latin typeface="Comfortaa"/>
              <a:ea typeface="Comfortaa"/>
              <a:cs typeface="Comfortaa"/>
              <a:sym typeface="Comfortaa"/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Font typeface="Comfortaa"/>
              <a:buChar char="○"/>
            </a:pPr>
            <a:r>
              <a:rPr b="1" lang="en" sz="1050">
                <a:latin typeface="Comfortaa"/>
                <a:ea typeface="Comfortaa"/>
                <a:cs typeface="Comfortaa"/>
                <a:sym typeface="Comfortaa"/>
              </a:rPr>
              <a:t>Temporary support employees may lack specialized knowledge </a:t>
            </a:r>
            <a:endParaRPr b="1" sz="1050">
              <a:latin typeface="Comfortaa"/>
              <a:ea typeface="Comfortaa"/>
              <a:cs typeface="Comfortaa"/>
              <a:sym typeface="Comfortaa"/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Font typeface="Comfortaa"/>
              <a:buChar char="○"/>
            </a:pPr>
            <a:r>
              <a:rPr b="1" lang="en" sz="1050">
                <a:latin typeface="Comfortaa"/>
                <a:ea typeface="Comfortaa"/>
                <a:cs typeface="Comfortaa"/>
                <a:sym typeface="Comfortaa"/>
              </a:rPr>
              <a:t>Limited ability to reduce workload on legacy system experts </a:t>
            </a:r>
            <a:endParaRPr b="1" sz="1050">
              <a:latin typeface="Comfortaa"/>
              <a:ea typeface="Comfortaa"/>
              <a:cs typeface="Comfortaa"/>
              <a:sym typeface="Comfortaa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SzPts val="1050"/>
              <a:buFont typeface="Comfortaa"/>
              <a:buChar char="●"/>
            </a:pPr>
            <a:r>
              <a:rPr b="1" lang="en" sz="1050">
                <a:latin typeface="Comfortaa"/>
                <a:ea typeface="Comfortaa"/>
                <a:cs typeface="Comfortaa"/>
                <a:sym typeface="Comfortaa"/>
              </a:rPr>
              <a:t>Costs: </a:t>
            </a:r>
            <a:endParaRPr b="1" sz="1050">
              <a:latin typeface="Comfortaa"/>
              <a:ea typeface="Comfortaa"/>
              <a:cs typeface="Comfortaa"/>
              <a:sym typeface="Comfortaa"/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Font typeface="Comfortaa"/>
              <a:buChar char="○"/>
            </a:pPr>
            <a:r>
              <a:rPr b="1" lang="en" sz="1050">
                <a:latin typeface="Comfortaa"/>
                <a:ea typeface="Comfortaa"/>
                <a:cs typeface="Comfortaa"/>
                <a:sym typeface="Comfortaa"/>
              </a:rPr>
              <a:t>Increased labor costs from allocating or adding employees </a:t>
            </a:r>
            <a:endParaRPr b="1" sz="1050">
              <a:latin typeface="Comfortaa"/>
              <a:ea typeface="Comfortaa"/>
              <a:cs typeface="Comfortaa"/>
              <a:sym typeface="Comfortaa"/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Font typeface="Comfortaa"/>
              <a:buChar char="○"/>
            </a:pPr>
            <a:r>
              <a:rPr b="1" lang="en" sz="1050">
                <a:latin typeface="Comfortaa"/>
                <a:ea typeface="Comfortaa"/>
                <a:cs typeface="Comfortaa"/>
                <a:sym typeface="Comfortaa"/>
              </a:rPr>
              <a:t>Reduced productivity in other departments providing support </a:t>
            </a:r>
            <a:endParaRPr b="1" sz="1050">
              <a:latin typeface="Comfortaa"/>
              <a:ea typeface="Comfortaa"/>
              <a:cs typeface="Comfortaa"/>
              <a:sym typeface="Comfortaa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SzPts val="1050"/>
              <a:buFont typeface="Comfortaa"/>
              <a:buChar char="●"/>
            </a:pPr>
            <a:r>
              <a:rPr b="1" lang="en" sz="1050">
                <a:latin typeface="Comfortaa"/>
                <a:ea typeface="Comfortaa"/>
                <a:cs typeface="Comfortaa"/>
                <a:sym typeface="Comfortaa"/>
              </a:rPr>
              <a:t>Potential unintended consequences: </a:t>
            </a:r>
            <a:endParaRPr b="1" sz="1050">
              <a:latin typeface="Comfortaa"/>
              <a:ea typeface="Comfortaa"/>
              <a:cs typeface="Comfortaa"/>
              <a:sym typeface="Comfortaa"/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Font typeface="Comfortaa"/>
              <a:buChar char="○"/>
            </a:pPr>
            <a:r>
              <a:rPr b="1" lang="en" sz="1050">
                <a:latin typeface="Comfortaa"/>
                <a:ea typeface="Comfortaa"/>
                <a:cs typeface="Comfortaa"/>
                <a:sym typeface="Comfortaa"/>
              </a:rPr>
              <a:t>Involving more employees in decisions may slow down the transition </a:t>
            </a:r>
            <a:endParaRPr b="1" sz="1050">
              <a:latin typeface="Comfortaa"/>
              <a:ea typeface="Comfortaa"/>
              <a:cs typeface="Comfortaa"/>
              <a:sym typeface="Comfortaa"/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SzPts val="1050"/>
              <a:buFont typeface="Comfortaa"/>
              <a:buChar char="○"/>
            </a:pPr>
            <a:r>
              <a:rPr b="1" lang="en" sz="1050">
                <a:latin typeface="Comfortaa"/>
                <a:ea typeface="Comfortaa"/>
                <a:cs typeface="Comfortaa"/>
                <a:sym typeface="Comfortaa"/>
              </a:rPr>
              <a:t>Risk of disagreements or delays in decision-making </a:t>
            </a:r>
            <a:endParaRPr b="1" sz="105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050"/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0" y="1689850"/>
            <a:ext cx="45720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latin typeface="Comfortaa"/>
                <a:ea typeface="Comfortaa"/>
                <a:cs typeface="Comfortaa"/>
                <a:sym typeface="Comfortaa"/>
              </a:rPr>
              <a:t>Best Practices</a:t>
            </a:r>
            <a:endParaRPr b="1" sz="1750">
              <a:latin typeface="Comfortaa"/>
              <a:ea typeface="Comfortaa"/>
              <a:cs typeface="Comfortaa"/>
              <a:sym typeface="Comfortaa"/>
            </a:endParaRPr>
          </a:p>
          <a:p>
            <a:pPr indent="-327025" lvl="0" marL="457200" rtl="0" algn="l">
              <a:spcBef>
                <a:spcPts val="1200"/>
              </a:spcBef>
              <a:spcAft>
                <a:spcPts val="0"/>
              </a:spcAft>
              <a:buSzPts val="1550"/>
              <a:buFont typeface="Comfortaa"/>
              <a:buChar char="●"/>
            </a:pPr>
            <a:r>
              <a:rPr b="1" lang="en" sz="1550">
                <a:latin typeface="Comfortaa"/>
                <a:ea typeface="Comfortaa"/>
                <a:cs typeface="Comfortaa"/>
                <a:sym typeface="Comfortaa"/>
              </a:rPr>
              <a:t>Clear Communication Channels, two-way feedback, regular updates</a:t>
            </a:r>
            <a:endParaRPr b="1" sz="1550">
              <a:latin typeface="Comfortaa"/>
              <a:ea typeface="Comfortaa"/>
              <a:cs typeface="Comfortaa"/>
              <a:sym typeface="Comfortaa"/>
            </a:endParaRPr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Font typeface="Comfortaa"/>
              <a:buChar char="○"/>
            </a:pPr>
            <a:r>
              <a:rPr b="1" lang="en" sz="1550">
                <a:latin typeface="Comfortaa"/>
                <a:ea typeface="Comfortaa"/>
                <a:cs typeface="Comfortaa"/>
                <a:sym typeface="Comfortaa"/>
              </a:rPr>
              <a:t>Understand purpose of any systematic, leadership, or other changes</a:t>
            </a:r>
            <a:endParaRPr b="1" sz="1550">
              <a:latin typeface="Comfortaa"/>
              <a:ea typeface="Comfortaa"/>
              <a:cs typeface="Comfortaa"/>
              <a:sym typeface="Comfortaa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Font typeface="Comfortaa"/>
              <a:buChar char="●"/>
            </a:pPr>
            <a:r>
              <a:rPr b="1" lang="en" sz="1550">
                <a:latin typeface="Comfortaa"/>
                <a:ea typeface="Comfortaa"/>
                <a:cs typeface="Comfortaa"/>
                <a:sym typeface="Comfortaa"/>
              </a:rPr>
              <a:t>Impact for Bank of America</a:t>
            </a:r>
            <a:endParaRPr b="1" sz="1550">
              <a:latin typeface="Comfortaa"/>
              <a:ea typeface="Comfortaa"/>
              <a:cs typeface="Comfortaa"/>
              <a:sym typeface="Comfortaa"/>
            </a:endParaRPr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Font typeface="Comfortaa"/>
              <a:buChar char="○"/>
            </a:pPr>
            <a:r>
              <a:rPr b="1" lang="en" sz="1550">
                <a:latin typeface="Comfortaa"/>
                <a:ea typeface="Comfortaa"/>
                <a:cs typeface="Comfortaa"/>
                <a:sym typeface="Comfortaa"/>
              </a:rPr>
              <a:t>Make system transition smoother</a:t>
            </a:r>
            <a:endParaRPr b="1" sz="1550">
              <a:latin typeface="Comfortaa"/>
              <a:ea typeface="Comfortaa"/>
              <a:cs typeface="Comfortaa"/>
              <a:sym typeface="Comfortaa"/>
            </a:endParaRPr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Font typeface="Comfortaa"/>
              <a:buChar char="○"/>
            </a:pPr>
            <a:r>
              <a:rPr b="1" lang="en" sz="1550">
                <a:latin typeface="Comfortaa"/>
                <a:ea typeface="Comfortaa"/>
                <a:cs typeface="Comfortaa"/>
                <a:sym typeface="Comfortaa"/>
              </a:rPr>
              <a:t>Increased willingness to support changes</a:t>
            </a:r>
            <a:endParaRPr b="1" sz="155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AutoNum type="arabicPeriod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Rational Persuasion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○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Recommendations are supported by research 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○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Directly address risks that are currently not accounted for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AutoNum type="arabicPeriod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Consultation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AutoNum type="alphaLcPeriod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Involve current employees in planning process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AutoNum type="romanLcPeriod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Design a system that they can commit to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This creates</a:t>
            </a: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 an effective system that is designed and implemented by employees. 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0" name="Google Shape;180;p28"/>
          <p:cNvSpPr txBox="1"/>
          <p:nvPr>
            <p:ph type="title"/>
          </p:nvPr>
        </p:nvSpPr>
        <p:spPr>
          <a:xfrm>
            <a:off x="471900" y="738725"/>
            <a:ext cx="79794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latin typeface="Comfortaa"/>
                <a:ea typeface="Comfortaa"/>
                <a:cs typeface="Comfortaa"/>
                <a:sym typeface="Comfortaa"/>
              </a:rPr>
              <a:t>Communication Strategies &amp;</a:t>
            </a:r>
            <a:endParaRPr b="1" sz="285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latin typeface="Comfortaa"/>
                <a:ea typeface="Comfortaa"/>
                <a:cs typeface="Comfortaa"/>
                <a:sym typeface="Comfortaa"/>
              </a:rPr>
              <a:t>Influencing Tactics</a:t>
            </a:r>
            <a:endParaRPr b="1" sz="285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81" name="Google Shape;1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2376" y="-304800"/>
            <a:ext cx="2306176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ctrTitle"/>
          </p:nvPr>
        </p:nvSpPr>
        <p:spPr>
          <a:xfrm>
            <a:off x="1629450" y="1937850"/>
            <a:ext cx="5885100" cy="12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7200">
                <a:latin typeface="Comfortaa"/>
                <a:ea typeface="Comfortaa"/>
                <a:cs typeface="Comfortaa"/>
                <a:sym typeface="Comfortaa"/>
              </a:rPr>
              <a:t>Thank you!</a:t>
            </a:r>
            <a:endParaRPr b="1" sz="7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