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Montserrat"/>
      <p:regular r:id="rId20"/>
      <p:bold r:id="rId21"/>
      <p:italic r:id="rId22"/>
      <p:boldItalic r:id="rId23"/>
    </p:embeddedFont>
    <p:embeddedFont>
      <p:font typeface="La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AEE63F-8D4A-4447-B774-5A6AFB050FAB}">
  <a:tblStyle styleId="{31AEE63F-8D4A-4447-B774-5A6AFB050FA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regular.fntdata"/><Relationship Id="rId22" Type="http://schemas.openxmlformats.org/officeDocument/2006/relationships/font" Target="fonts/Montserrat-italic.fntdata"/><Relationship Id="rId21" Type="http://schemas.openxmlformats.org/officeDocument/2006/relationships/font" Target="fonts/Montserrat-bold.fntdata"/><Relationship Id="rId24" Type="http://schemas.openxmlformats.org/officeDocument/2006/relationships/font" Target="fonts/Lato-regular.fntdata"/><Relationship Id="rId23" Type="http://schemas.openxmlformats.org/officeDocument/2006/relationships/font" Target="fonts/Montserra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ato-italic.fntdata"/><Relationship Id="rId25" Type="http://schemas.openxmlformats.org/officeDocument/2006/relationships/font" Target="fonts/Lato-bold.fntdata"/><Relationship Id="rId27" Type="http://schemas.openxmlformats.org/officeDocument/2006/relationships/font" Target="fonts/La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damotech.com/blog/costco-marketing-strategy-and-warehousing-approach" TargetMode="External"/><Relationship Id="rId3" Type="http://schemas.openxmlformats.org/officeDocument/2006/relationships/hyperlink" Target="https://www.thomasnet.com/insights/costco-supply-chain/" TargetMode="External"/><Relationship Id="rId4" Type="http://schemas.openxmlformats.org/officeDocument/2006/relationships/hyperlink" Target="https://www.ainvest.com/news/costco-competitive-resilience-high-tariff-environment-2508/" TargetMode="External"/><Relationship Id="rId5" Type="http://schemas.openxmlformats.org/officeDocument/2006/relationships/hyperlink" Target="https://www.supplychainbrain.com/articles/41351-costco-wrestles-with-supply-chain-constraints-as-profits-fall-short#:~:text=Costco%20Wrestles%20with%20Supply%20Chain%20Constraints%20as%20Profits%20Fall%20Short,-Photo%3A%20iStock%20%2F%20slobo&amp;text=Reported%20profits%20from%20big%2Dbox,uncertainties%20loom%20over%20the%20industry" TargetMode="External"/><Relationship Id="rId6" Type="http://schemas.openxmlformats.org/officeDocument/2006/relationships/hyperlink" Target="https://mobilecontent.costco.com/staging/resource/img/25w03130/3b_Transportation&amp;Logistics_FY24.pdf"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nthonysmoak.com/2017/08/06/costcos-underinvestment-in-technology-leaves-it-vulnerable-to-disruption/" TargetMode="External"/><Relationship Id="rId3" Type="http://schemas.openxmlformats.org/officeDocument/2006/relationships/hyperlink" Target="https://www.businessinsider.com/costco-earnings-purchasing-extra-inventory-tariff-uncertainty-2025-3" TargetMode="External"/><Relationship Id="rId4" Type="http://schemas.openxmlformats.org/officeDocument/2006/relationships/hyperlink" Target="https://www.ainvest.com/news/costco-recall-crisis-test-supply-chain-resilience-consumer-loyalty-2507/"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68a3feb3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68a3feb3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68a3feb314_0_7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68a3feb314_0_7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68b2a846ca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68b2a846ca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68b2a846ca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68b2a846ca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68b2a846c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68b2a846c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68a3feb314_0_7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68a3feb314_0_7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68a3feb314_0_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68a3feb314_0_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68a3feb314_0_8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68a3feb314_0_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68a3feb314_0_8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68a3feb314_0_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68a3feb314_0_8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68a3feb314_0_8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By Ethan Wan</a:t>
            </a:r>
            <a:endParaRPr>
              <a:solidFill>
                <a:schemeClr val="dk1"/>
              </a:solidFill>
            </a:endParaRPr>
          </a:p>
          <a:p>
            <a:pPr indent="0" lvl="0" marL="0" rtl="0" algn="l">
              <a:spcBef>
                <a:spcPts val="0"/>
              </a:spcBef>
              <a:spcAft>
                <a:spcPts val="0"/>
              </a:spcAft>
              <a:buNone/>
            </a:pPr>
            <a:r>
              <a:rPr lang="en">
                <a:solidFill>
                  <a:schemeClr val="dk1"/>
                </a:solidFill>
              </a:rPr>
              <a:t>Sources:</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hlink"/>
                </a:solidFill>
                <a:hlinkClick r:id="rId2"/>
              </a:rPr>
              <a:t>https://www.damotech.com/blog/costco-marketing-strategy-and-warehousing-approach</a:t>
            </a:r>
            <a:endParaRPr>
              <a:solidFill>
                <a:schemeClr val="dk1"/>
              </a:solidFill>
            </a:endParaRPr>
          </a:p>
          <a:p>
            <a:pPr indent="0" lvl="0" marL="0" rtl="0" algn="l">
              <a:spcBef>
                <a:spcPts val="0"/>
              </a:spcBef>
              <a:spcAft>
                <a:spcPts val="0"/>
              </a:spcAft>
              <a:buNone/>
            </a:pPr>
            <a:r>
              <a:rPr lang="en" u="sng">
                <a:solidFill>
                  <a:schemeClr val="hlink"/>
                </a:solidFill>
                <a:hlinkClick r:id="rId3"/>
              </a:rPr>
              <a:t>https://www.thomasnet.com/insights/costco-supply-chain/</a:t>
            </a:r>
            <a:r>
              <a:rPr lang="en"/>
              <a:t> </a:t>
            </a:r>
            <a:endParaRPr/>
          </a:p>
          <a:p>
            <a:pPr indent="0" lvl="0" marL="0" rtl="0" algn="l">
              <a:spcBef>
                <a:spcPts val="0"/>
              </a:spcBef>
              <a:spcAft>
                <a:spcPts val="0"/>
              </a:spcAft>
              <a:buNone/>
            </a:pPr>
            <a:r>
              <a:rPr lang="en" u="sng">
                <a:solidFill>
                  <a:schemeClr val="hlink"/>
                </a:solidFill>
                <a:hlinkClick r:id="rId4"/>
              </a:rPr>
              <a:t>https://www.ainvest.com/news/costco-competitive-resilience-high-tariff-environment-2508/</a:t>
            </a:r>
            <a:endParaRPr/>
          </a:p>
          <a:p>
            <a:pPr indent="0" lvl="0" marL="0" rtl="0" algn="l">
              <a:spcBef>
                <a:spcPts val="0"/>
              </a:spcBef>
              <a:spcAft>
                <a:spcPts val="0"/>
              </a:spcAft>
              <a:buNone/>
            </a:pPr>
            <a:r>
              <a:rPr lang="en" u="sng">
                <a:solidFill>
                  <a:schemeClr val="hlink"/>
                </a:solidFill>
                <a:hlinkClick r:id="rId5"/>
              </a:rPr>
              <a:t>https://www.supplychainbrain.com/articles/41351-costco-wrestles-with-supply-chain-constraints-as-profits-fall-short#:~:text=Costco%20Wrestles%20with%20Supply%20Chain%20Constraints%20as%20Profits%20Fall%20Short,-Photo%3A%20iStock%20%2F%20slobo&amp;text=Reported%20profits%20from%20big%2Dbox,uncertainties%20loom%20over%20the%20industry</a:t>
            </a:r>
            <a:r>
              <a:rPr lang="en"/>
              <a:t>. </a:t>
            </a:r>
            <a:endParaRPr/>
          </a:p>
          <a:p>
            <a:pPr indent="0" lvl="0" marL="0" rtl="0" algn="l">
              <a:spcBef>
                <a:spcPts val="0"/>
              </a:spcBef>
              <a:spcAft>
                <a:spcPts val="0"/>
              </a:spcAft>
              <a:buNone/>
            </a:pPr>
            <a:r>
              <a:rPr lang="en" u="sng">
                <a:solidFill>
                  <a:schemeClr val="hlink"/>
                </a:solidFill>
                <a:hlinkClick r:id="rId6"/>
              </a:rPr>
              <a:t>https://mobilecontent.costco.com/staging/resource/img/25w03130/3b_Transportation&amp;Logistics_FY24.pdf</a:t>
            </a:r>
            <a:r>
              <a:rPr lang="en"/>
              <a: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68a3feb314_0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68a3feb314_0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Ethan Wan</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u="sng">
                <a:solidFill>
                  <a:schemeClr val="hlink"/>
                </a:solidFill>
                <a:hlinkClick r:id="rId2"/>
              </a:rPr>
              <a:t>https://anthonysmoak.com/2017/08/06/costcos-underinvestment-in-technology-leaves-it-vulnerable-to-disruption/</a:t>
            </a:r>
            <a:endParaRPr/>
          </a:p>
          <a:p>
            <a:pPr indent="0" lvl="0" marL="0" rtl="0" algn="l">
              <a:spcBef>
                <a:spcPts val="0"/>
              </a:spcBef>
              <a:spcAft>
                <a:spcPts val="0"/>
              </a:spcAft>
              <a:buNone/>
            </a:pPr>
            <a:r>
              <a:rPr lang="en" u="sng">
                <a:solidFill>
                  <a:schemeClr val="hlink"/>
                </a:solidFill>
                <a:hlinkClick r:id="rId3"/>
              </a:rPr>
              <a:t>https://www.businessinsider.com/costco-earnings-purchasing-extra-inventory-tariff-uncertainty-2025-3</a:t>
            </a:r>
            <a:r>
              <a:rPr lang="en"/>
              <a:t> </a:t>
            </a:r>
            <a:endParaRPr/>
          </a:p>
          <a:p>
            <a:pPr indent="0" lvl="0" marL="0" rtl="0" algn="l">
              <a:spcBef>
                <a:spcPts val="0"/>
              </a:spcBef>
              <a:spcAft>
                <a:spcPts val="0"/>
              </a:spcAft>
              <a:buNone/>
            </a:pPr>
            <a:r>
              <a:rPr lang="en" u="sng">
                <a:solidFill>
                  <a:schemeClr val="hlink"/>
                </a:solidFill>
                <a:hlinkClick r:id="rId4"/>
              </a:rPr>
              <a:t>https://www.ainvest.com/news/costco-recall-crisis-test-supply-chain-resilience-consumer-loyalty-2507/</a:t>
            </a:r>
            <a:r>
              <a:rPr lang="en"/>
              <a: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68a3feb314_0_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68a3feb314_0_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Ethan Wan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Costco Supply Chain Research</a:t>
            </a:r>
            <a:endParaRPr/>
          </a:p>
        </p:txBody>
      </p:sp>
      <p:sp>
        <p:nvSpPr>
          <p:cNvPr id="135" name="Google Shape;135;p13"/>
          <p:cNvSpPr txBox="1"/>
          <p:nvPr>
            <p:ph idx="1" type="subTitle"/>
          </p:nvPr>
        </p:nvSpPr>
        <p:spPr>
          <a:xfrm>
            <a:off x="4857500" y="3924925"/>
            <a:ext cx="4286700" cy="506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By: Jayan Sesha, Ethan Wan, Adam Giljic, Matt Glasberg, and Mihir Chinta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124150" y="191475"/>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Company Overview</a:t>
            </a:r>
            <a:endParaRPr/>
          </a:p>
        </p:txBody>
      </p:sp>
      <p:sp>
        <p:nvSpPr>
          <p:cNvPr id="141" name="Google Shape;141;p14"/>
          <p:cNvSpPr txBox="1"/>
          <p:nvPr>
            <p:ph idx="1" type="body"/>
          </p:nvPr>
        </p:nvSpPr>
        <p:spPr>
          <a:xfrm>
            <a:off x="873650" y="1019825"/>
            <a:ext cx="7893300" cy="2911200"/>
          </a:xfrm>
          <a:prstGeom prst="rect">
            <a:avLst/>
          </a:prstGeom>
        </p:spPr>
        <p:txBody>
          <a:bodyPr anchorCtr="0" anchor="t" bIns="91425" lIns="91425" spcFirstLastPara="1" rIns="91425" wrap="square" tIns="91425">
            <a:noAutofit/>
          </a:bodyPr>
          <a:lstStyle/>
          <a:p>
            <a:pPr indent="-311626" lvl="0" marL="457200" rtl="0" algn="l">
              <a:lnSpc>
                <a:spcPct val="115000"/>
              </a:lnSpc>
              <a:spcBef>
                <a:spcPts val="0"/>
              </a:spcBef>
              <a:spcAft>
                <a:spcPts val="0"/>
              </a:spcAft>
              <a:buSzPts val="1308"/>
              <a:buFont typeface="Montserrat"/>
              <a:buChar char="-"/>
            </a:pPr>
            <a:r>
              <a:rPr lang="en" sz="1308">
                <a:latin typeface="Montserrat"/>
                <a:ea typeface="Montserrat"/>
                <a:cs typeface="Montserrat"/>
                <a:sym typeface="Montserrat"/>
              </a:rPr>
              <a:t>Founded in 1983 and headquartered in Issaquah, Washington, Costco Wholesale operates membership-based warehouse clubs that sell products in bulk at low prices to maximize value for members.</a:t>
            </a:r>
            <a:endParaRPr sz="1308">
              <a:latin typeface="Montserrat"/>
              <a:ea typeface="Montserrat"/>
              <a:cs typeface="Montserrat"/>
              <a:sym typeface="Montserrat"/>
            </a:endParaRPr>
          </a:p>
          <a:p>
            <a:pPr indent="-311626" lvl="0" marL="457200" rtl="0" algn="l">
              <a:lnSpc>
                <a:spcPct val="115000"/>
              </a:lnSpc>
              <a:spcBef>
                <a:spcPts val="1000"/>
              </a:spcBef>
              <a:spcAft>
                <a:spcPts val="0"/>
              </a:spcAft>
              <a:buSzPts val="1308"/>
              <a:buFont typeface="Montserrat"/>
              <a:buChar char="-"/>
            </a:pPr>
            <a:r>
              <a:rPr lang="en" sz="1308">
                <a:latin typeface="Montserrat"/>
                <a:ea typeface="Montserrat"/>
                <a:cs typeface="Montserrat"/>
                <a:sym typeface="Montserrat"/>
              </a:rPr>
              <a:t>Its product offerings include groceries, electronics, furniture, clothing, and home goods, along with its popular private label brand Kirkland Signature known for premium quality at lower prices.</a:t>
            </a:r>
            <a:endParaRPr sz="1308">
              <a:latin typeface="Montserrat"/>
              <a:ea typeface="Montserrat"/>
              <a:cs typeface="Montserrat"/>
              <a:sym typeface="Montserrat"/>
            </a:endParaRPr>
          </a:p>
          <a:p>
            <a:pPr indent="-311626" lvl="0" marL="457200" rtl="0" algn="l">
              <a:lnSpc>
                <a:spcPct val="115000"/>
              </a:lnSpc>
              <a:spcBef>
                <a:spcPts val="1000"/>
              </a:spcBef>
              <a:spcAft>
                <a:spcPts val="0"/>
              </a:spcAft>
              <a:buSzPts val="1308"/>
              <a:buFont typeface="Montserrat"/>
              <a:buChar char="-"/>
            </a:pPr>
            <a:r>
              <a:rPr lang="en" sz="1308">
                <a:latin typeface="Montserrat"/>
                <a:ea typeface="Montserrat"/>
                <a:cs typeface="Montserrat"/>
                <a:sym typeface="Montserrat"/>
              </a:rPr>
              <a:t>Costco also provides a wide range of services such as gas stations, pharmacies, optical centers, tire service, insurance programs, food courts, and online shopping through its e-commerce platform.</a:t>
            </a:r>
            <a:endParaRPr sz="1308">
              <a:latin typeface="Montserrat"/>
              <a:ea typeface="Montserrat"/>
              <a:cs typeface="Montserrat"/>
              <a:sym typeface="Montserrat"/>
            </a:endParaRPr>
          </a:p>
          <a:p>
            <a:pPr indent="-311626" lvl="0" marL="457200" rtl="0" algn="l">
              <a:lnSpc>
                <a:spcPct val="115000"/>
              </a:lnSpc>
              <a:spcBef>
                <a:spcPts val="1000"/>
              </a:spcBef>
              <a:spcAft>
                <a:spcPts val="0"/>
              </a:spcAft>
              <a:buSzPts val="1308"/>
              <a:buFont typeface="Montserrat"/>
              <a:buChar char="-"/>
            </a:pPr>
            <a:r>
              <a:rPr lang="en" sz="1308">
                <a:latin typeface="Montserrat"/>
                <a:ea typeface="Montserrat"/>
                <a:cs typeface="Montserrat"/>
                <a:sym typeface="Montserrat"/>
              </a:rPr>
              <a:t>The company operates over 914 warehouses worldwide, employing more than 333,000 people and serving about 137 million members globally as of September 2025.</a:t>
            </a:r>
            <a:endParaRPr sz="1308">
              <a:latin typeface="Montserrat"/>
              <a:ea typeface="Montserrat"/>
              <a:cs typeface="Montserrat"/>
              <a:sym typeface="Montserrat"/>
            </a:endParaRPr>
          </a:p>
          <a:p>
            <a:pPr indent="-311626" lvl="0" marL="457200" rtl="0" algn="l">
              <a:lnSpc>
                <a:spcPct val="115000"/>
              </a:lnSpc>
              <a:spcBef>
                <a:spcPts val="1000"/>
              </a:spcBef>
              <a:spcAft>
                <a:spcPts val="1000"/>
              </a:spcAft>
              <a:buSzPts val="1308"/>
              <a:buFont typeface="Montserrat"/>
              <a:buChar char="-"/>
            </a:pPr>
            <a:r>
              <a:rPr lang="en" sz="1308">
                <a:latin typeface="Montserrat"/>
                <a:ea typeface="Montserrat"/>
                <a:cs typeface="Montserrat"/>
                <a:sym typeface="Montserrat"/>
              </a:rPr>
              <a:t>While most warehouses are located in North America (U.S., Canada, and Mexico), Costco also has a strong international footprint across markets like Japan, South Korea, the UK, Australia, Spain, Taiwan, France, Sweden, and China.</a:t>
            </a:r>
            <a:endParaRPr sz="1308">
              <a:latin typeface="Montserrat"/>
              <a:ea typeface="Montserrat"/>
              <a:cs typeface="Montserrat"/>
              <a:sym typeface="Montserrat"/>
            </a:endParaRPr>
          </a:p>
        </p:txBody>
      </p:sp>
      <p:sp>
        <p:nvSpPr>
          <p:cNvPr id="142" name="Google Shape;142;p14"/>
          <p:cNvSpPr txBox="1"/>
          <p:nvPr/>
        </p:nvSpPr>
        <p:spPr>
          <a:xfrm>
            <a:off x="53250" y="125200"/>
            <a:ext cx="12021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Jayan </a:t>
            </a:r>
            <a:endParaRPr sz="1300">
              <a:solidFill>
                <a:schemeClr val="lt1"/>
              </a:solidFill>
              <a:latin typeface="Lato"/>
              <a:ea typeface="Lato"/>
              <a:cs typeface="Lato"/>
              <a:sym typeface="Lato"/>
            </a:endParaRPr>
          </a:p>
        </p:txBody>
      </p:sp>
      <p:pic>
        <p:nvPicPr>
          <p:cNvPr id="143" name="Google Shape;143;p14"/>
          <p:cNvPicPr preferRelativeResize="0"/>
          <p:nvPr/>
        </p:nvPicPr>
        <p:blipFill>
          <a:blip r:embed="rId3">
            <a:alphaModFix/>
          </a:blip>
          <a:stretch>
            <a:fillRect/>
          </a:stretch>
        </p:blipFill>
        <p:spPr>
          <a:xfrm>
            <a:off x="6318974" y="10350"/>
            <a:ext cx="2825023" cy="1009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5"/>
          <p:cNvSpPr txBox="1"/>
          <p:nvPr>
            <p:ph type="title"/>
          </p:nvPr>
        </p:nvSpPr>
        <p:spPr>
          <a:xfrm>
            <a:off x="1255350" y="12520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Vision, Mission, &amp; Strategy</a:t>
            </a:r>
            <a:endParaRPr/>
          </a:p>
        </p:txBody>
      </p:sp>
      <p:sp>
        <p:nvSpPr>
          <p:cNvPr id="149" name="Google Shape;149;p15"/>
          <p:cNvSpPr txBox="1"/>
          <p:nvPr>
            <p:ph idx="1" type="body"/>
          </p:nvPr>
        </p:nvSpPr>
        <p:spPr>
          <a:xfrm>
            <a:off x="855900" y="914100"/>
            <a:ext cx="8288100" cy="4318500"/>
          </a:xfrm>
          <a:prstGeom prst="rect">
            <a:avLst/>
          </a:prstGeom>
        </p:spPr>
        <p:txBody>
          <a:bodyPr anchorCtr="0" anchor="t" bIns="91425" lIns="91425" spcFirstLastPara="1" rIns="91425" wrap="square" tIns="91425">
            <a:noAutofit/>
          </a:bodyPr>
          <a:lstStyle/>
          <a:p>
            <a:pPr indent="-307975" lvl="0" marL="457200" rtl="0" algn="l">
              <a:spcBef>
                <a:spcPts val="0"/>
              </a:spcBef>
              <a:spcAft>
                <a:spcPts val="0"/>
              </a:spcAft>
              <a:buSzPts val="1250"/>
              <a:buFont typeface="Montserrat"/>
              <a:buChar char="-"/>
            </a:pPr>
            <a:r>
              <a:rPr lang="en" sz="1250">
                <a:latin typeface="Montserrat"/>
                <a:ea typeface="Montserrat"/>
                <a:cs typeface="Montserrat"/>
                <a:sym typeface="Montserrat"/>
              </a:rPr>
              <a:t>Mission: Costco’s mission is to continually provide its members with quality goods and services at the lowest possible prices, ensuring value and trust through efficiency and ethical business practices.</a:t>
            </a:r>
            <a:endParaRPr sz="1250">
              <a:latin typeface="Montserrat"/>
              <a:ea typeface="Montserrat"/>
              <a:cs typeface="Montserrat"/>
              <a:sym typeface="Montserrat"/>
            </a:endParaRPr>
          </a:p>
          <a:p>
            <a:pPr indent="-307975" lvl="0" marL="457200" rtl="0" algn="l">
              <a:spcBef>
                <a:spcPts val="0"/>
              </a:spcBef>
              <a:spcAft>
                <a:spcPts val="0"/>
              </a:spcAft>
              <a:buSzPts val="1250"/>
              <a:buFont typeface="Montserrat"/>
              <a:buChar char="-"/>
            </a:pPr>
            <a:r>
              <a:rPr lang="en" sz="1250">
                <a:latin typeface="Montserrat"/>
                <a:ea typeface="Montserrat"/>
                <a:cs typeface="Montserrat"/>
                <a:sym typeface="Montserrat"/>
              </a:rPr>
              <a:t>Vision: The company aims to be the most efficient buying and operating platform in the world, giving members access to unmatched savings through operational excellence and large-scale purchasing power.</a:t>
            </a:r>
            <a:endParaRPr sz="1250">
              <a:latin typeface="Montserrat"/>
              <a:ea typeface="Montserrat"/>
              <a:cs typeface="Montserrat"/>
              <a:sym typeface="Montserrat"/>
            </a:endParaRPr>
          </a:p>
          <a:p>
            <a:pPr indent="-307975" lvl="0" marL="457200" rtl="0" algn="l">
              <a:spcBef>
                <a:spcPts val="0"/>
              </a:spcBef>
              <a:spcAft>
                <a:spcPts val="0"/>
              </a:spcAft>
              <a:buSzPts val="1250"/>
              <a:buFont typeface="Montserrat"/>
              <a:buChar char="-"/>
            </a:pPr>
            <a:r>
              <a:rPr lang="en" sz="1250">
                <a:latin typeface="Montserrat"/>
                <a:ea typeface="Montserrat"/>
                <a:cs typeface="Montserrat"/>
                <a:sym typeface="Montserrat"/>
              </a:rPr>
              <a:t>Some of </a:t>
            </a:r>
            <a:r>
              <a:rPr lang="en" sz="1250">
                <a:latin typeface="Montserrat"/>
                <a:ea typeface="Montserrat"/>
                <a:cs typeface="Montserrat"/>
                <a:sym typeface="Montserrat"/>
              </a:rPr>
              <a:t>Costco’s key strategies are: </a:t>
            </a:r>
            <a:endParaRPr sz="1250">
              <a:latin typeface="Montserrat"/>
              <a:ea typeface="Montserrat"/>
              <a:cs typeface="Montserrat"/>
              <a:sym typeface="Montserrat"/>
            </a:endParaRPr>
          </a:p>
          <a:p>
            <a:pPr indent="-307975" lvl="1" marL="914400" rtl="0" algn="l">
              <a:spcBef>
                <a:spcPts val="0"/>
              </a:spcBef>
              <a:spcAft>
                <a:spcPts val="0"/>
              </a:spcAft>
              <a:buSzPts val="1250"/>
              <a:buFont typeface="Montserrat"/>
              <a:buChar char="-"/>
            </a:pPr>
            <a:r>
              <a:rPr lang="en" sz="1250">
                <a:latin typeface="Montserrat"/>
                <a:ea typeface="Montserrat"/>
                <a:cs typeface="Montserrat"/>
                <a:sym typeface="Montserrat"/>
              </a:rPr>
              <a:t>Cost leadership, maintaining low markups and high sales volume in order to maintain profit and price.</a:t>
            </a:r>
            <a:endParaRPr sz="1250">
              <a:latin typeface="Montserrat"/>
              <a:ea typeface="Montserrat"/>
              <a:cs typeface="Montserrat"/>
              <a:sym typeface="Montserrat"/>
            </a:endParaRPr>
          </a:p>
          <a:p>
            <a:pPr indent="-307975" lvl="1" marL="914400" rtl="0" algn="l">
              <a:spcBef>
                <a:spcPts val="0"/>
              </a:spcBef>
              <a:spcAft>
                <a:spcPts val="0"/>
              </a:spcAft>
              <a:buSzPts val="1250"/>
              <a:buFont typeface="Montserrat"/>
              <a:buChar char="-"/>
            </a:pPr>
            <a:r>
              <a:rPr lang="en" sz="1250">
                <a:latin typeface="Montserrat"/>
                <a:ea typeface="Montserrat"/>
                <a:cs typeface="Montserrat"/>
                <a:sym typeface="Montserrat"/>
              </a:rPr>
              <a:t>Long-term partnerships with suppliers are central to Costco’s sourcing approach, ensuring consistent quality, competitive pricing, and sustainable procurement across global markets.</a:t>
            </a:r>
            <a:endParaRPr sz="1250">
              <a:latin typeface="Montserrat"/>
              <a:ea typeface="Montserrat"/>
              <a:cs typeface="Montserrat"/>
              <a:sym typeface="Montserrat"/>
            </a:endParaRPr>
          </a:p>
          <a:p>
            <a:pPr indent="-307975" lvl="1" marL="914400" rtl="0" algn="l">
              <a:spcBef>
                <a:spcPts val="0"/>
              </a:spcBef>
              <a:spcAft>
                <a:spcPts val="0"/>
              </a:spcAft>
              <a:buSzPts val="1250"/>
              <a:buFont typeface="Montserrat"/>
              <a:buChar char="-"/>
            </a:pPr>
            <a:r>
              <a:rPr lang="en" sz="1250">
                <a:latin typeface="Montserrat"/>
                <a:ea typeface="Montserrat"/>
                <a:cs typeface="Montserrat"/>
                <a:sym typeface="Montserrat"/>
              </a:rPr>
              <a:t>E</a:t>
            </a:r>
            <a:r>
              <a:rPr lang="en" sz="1250">
                <a:latin typeface="Montserrat"/>
                <a:ea typeface="Montserrat"/>
                <a:cs typeface="Montserrat"/>
                <a:sym typeface="Montserrat"/>
              </a:rPr>
              <a:t>fficient warehouse layouts and logistics systems, reducing handling costs, supporting its low-price model.</a:t>
            </a:r>
            <a:endParaRPr sz="1250">
              <a:latin typeface="Montserrat"/>
              <a:ea typeface="Montserrat"/>
              <a:cs typeface="Montserrat"/>
              <a:sym typeface="Montserrat"/>
            </a:endParaRPr>
          </a:p>
          <a:p>
            <a:pPr indent="-307975" lvl="1" marL="914400" rtl="0" algn="l">
              <a:spcBef>
                <a:spcPts val="0"/>
              </a:spcBef>
              <a:spcAft>
                <a:spcPts val="0"/>
              </a:spcAft>
              <a:buSzPts val="1250"/>
              <a:buFont typeface="Montserrat"/>
              <a:buChar char="-"/>
            </a:pPr>
            <a:r>
              <a:rPr lang="en" sz="1250">
                <a:latin typeface="Montserrat"/>
                <a:ea typeface="Montserrat"/>
                <a:cs typeface="Montserrat"/>
                <a:sym typeface="Montserrat"/>
              </a:rPr>
              <a:t>Expansion</a:t>
            </a:r>
            <a:r>
              <a:rPr lang="en" sz="1250">
                <a:latin typeface="Montserrat"/>
                <a:ea typeface="Montserrat"/>
                <a:cs typeface="Montserrat"/>
                <a:sym typeface="Montserrat"/>
              </a:rPr>
              <a:t> into international markets, focusing on high-demand regions to increase customer base.</a:t>
            </a:r>
            <a:endParaRPr sz="1250">
              <a:latin typeface="Montserrat"/>
              <a:ea typeface="Montserrat"/>
              <a:cs typeface="Montserrat"/>
              <a:sym typeface="Montserrat"/>
            </a:endParaRPr>
          </a:p>
          <a:p>
            <a:pPr indent="-307975" lvl="1" marL="914400" rtl="0" algn="l">
              <a:spcBef>
                <a:spcPts val="0"/>
              </a:spcBef>
              <a:spcAft>
                <a:spcPts val="0"/>
              </a:spcAft>
              <a:buSzPts val="1250"/>
              <a:buFont typeface="Montserrat"/>
              <a:buChar char="-"/>
            </a:pPr>
            <a:r>
              <a:rPr lang="en" sz="1250">
                <a:latin typeface="Montserrat"/>
                <a:ea typeface="Montserrat"/>
                <a:cs typeface="Montserrat"/>
                <a:sym typeface="Montserrat"/>
              </a:rPr>
              <a:t>I</a:t>
            </a:r>
            <a:r>
              <a:rPr lang="en" sz="1250">
                <a:latin typeface="Montserrat"/>
                <a:ea typeface="Montserrat"/>
                <a:cs typeface="Montserrat"/>
                <a:sym typeface="Montserrat"/>
              </a:rPr>
              <a:t>nvesting heavily into technology and sustainability, improving inventory systems, energy efficiency, and ethical practices to support long-term growth and community trust.</a:t>
            </a:r>
            <a:endParaRPr sz="1250">
              <a:latin typeface="Montserrat"/>
              <a:ea typeface="Montserrat"/>
              <a:cs typeface="Montserrat"/>
              <a:sym typeface="Montserrat"/>
            </a:endParaRPr>
          </a:p>
        </p:txBody>
      </p:sp>
      <p:sp>
        <p:nvSpPr>
          <p:cNvPr id="150" name="Google Shape;150;p15"/>
          <p:cNvSpPr txBox="1"/>
          <p:nvPr/>
        </p:nvSpPr>
        <p:spPr>
          <a:xfrm>
            <a:off x="53250" y="125200"/>
            <a:ext cx="12021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Jayan </a:t>
            </a:r>
            <a:endParaRPr sz="1300">
              <a:solidFill>
                <a:schemeClr val="lt1"/>
              </a:solidFill>
              <a:latin typeface="Lato"/>
              <a:ea typeface="Lato"/>
              <a:cs typeface="Lato"/>
              <a:sym typeface="Lato"/>
            </a:endParaRPr>
          </a:p>
        </p:txBody>
      </p:sp>
      <p:pic>
        <p:nvPicPr>
          <p:cNvPr id="151" name="Google Shape;151;p15"/>
          <p:cNvPicPr preferRelativeResize="0"/>
          <p:nvPr/>
        </p:nvPicPr>
        <p:blipFill>
          <a:blip r:embed="rId3">
            <a:alphaModFix/>
          </a:blip>
          <a:stretch>
            <a:fillRect/>
          </a:stretch>
        </p:blipFill>
        <p:spPr>
          <a:xfrm>
            <a:off x="6293715" y="0"/>
            <a:ext cx="2850285" cy="914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16"/>
          <p:cNvPicPr preferRelativeResize="0"/>
          <p:nvPr/>
        </p:nvPicPr>
        <p:blipFill>
          <a:blip r:embed="rId3">
            <a:alphaModFix/>
          </a:blip>
          <a:stretch>
            <a:fillRect/>
          </a:stretch>
        </p:blipFill>
        <p:spPr>
          <a:xfrm>
            <a:off x="7529425" y="0"/>
            <a:ext cx="1614575" cy="1614575"/>
          </a:xfrm>
          <a:prstGeom prst="rect">
            <a:avLst/>
          </a:prstGeom>
          <a:noFill/>
          <a:ln>
            <a:noFill/>
          </a:ln>
        </p:spPr>
      </p:pic>
      <p:sp>
        <p:nvSpPr>
          <p:cNvPr id="157" name="Google Shape;157;p16"/>
          <p:cNvSpPr txBox="1"/>
          <p:nvPr>
            <p:ph type="title"/>
          </p:nvPr>
        </p:nvSpPr>
        <p:spPr>
          <a:xfrm>
            <a:off x="1064925" y="494050"/>
            <a:ext cx="7626900" cy="4374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200"/>
              <a:t>Strengths:</a:t>
            </a:r>
            <a:br>
              <a:rPr lang="en" sz="1500"/>
            </a:br>
            <a:endParaRPr sz="1500"/>
          </a:p>
          <a:p>
            <a:pPr indent="-365760" lvl="0" marL="457200" rtl="0" algn="l">
              <a:spcBef>
                <a:spcPts val="0"/>
              </a:spcBef>
              <a:spcAft>
                <a:spcPts val="0"/>
              </a:spcAft>
              <a:buSzPct val="160000"/>
              <a:buChar char="●"/>
            </a:pPr>
            <a:r>
              <a:rPr lang="en" sz="1500"/>
              <a:t>Its main source of revenue is from membership dues which </a:t>
            </a:r>
            <a:endParaRPr sz="1500"/>
          </a:p>
          <a:p>
            <a:pPr indent="0" lvl="0" marL="457200" rtl="0" algn="l">
              <a:spcBef>
                <a:spcPts val="0"/>
              </a:spcBef>
              <a:spcAft>
                <a:spcPts val="0"/>
              </a:spcAft>
              <a:buNone/>
            </a:pPr>
            <a:r>
              <a:rPr lang="en" sz="1500"/>
              <a:t>proves a good brand relationship with customers</a:t>
            </a:r>
            <a:endParaRPr sz="1500"/>
          </a:p>
          <a:p>
            <a:pPr indent="0" lvl="0" marL="457200" rtl="0" algn="l">
              <a:spcBef>
                <a:spcPts val="0"/>
              </a:spcBef>
              <a:spcAft>
                <a:spcPts val="0"/>
              </a:spcAft>
              <a:buNone/>
            </a:pPr>
            <a:r>
              <a:t/>
            </a:r>
            <a:endParaRPr sz="1500"/>
          </a:p>
          <a:p>
            <a:pPr indent="-314325" lvl="0" marL="457200" rtl="0" algn="l">
              <a:spcBef>
                <a:spcPts val="0"/>
              </a:spcBef>
              <a:spcAft>
                <a:spcPts val="0"/>
              </a:spcAft>
              <a:buSzPct val="100000"/>
              <a:buChar char="●"/>
            </a:pPr>
            <a:r>
              <a:rPr lang="en" sz="1500"/>
              <a:t>Is able to have an advertising budget of $0 due to positive word-of-mouth </a:t>
            </a:r>
            <a:endParaRPr sz="1500"/>
          </a:p>
          <a:p>
            <a:pPr indent="0" lvl="0" marL="457200" rtl="0" algn="l">
              <a:spcBef>
                <a:spcPts val="0"/>
              </a:spcBef>
              <a:spcAft>
                <a:spcPts val="0"/>
              </a:spcAft>
              <a:buNone/>
            </a:pPr>
            <a:r>
              <a:t/>
            </a:r>
            <a:endParaRPr sz="1500"/>
          </a:p>
          <a:p>
            <a:pPr indent="-365760" lvl="0" marL="457200" rtl="0" algn="l">
              <a:spcBef>
                <a:spcPts val="0"/>
              </a:spcBef>
              <a:spcAft>
                <a:spcPts val="0"/>
              </a:spcAft>
              <a:buSzPct val="160000"/>
              <a:buChar char="●"/>
            </a:pPr>
            <a:r>
              <a:rPr lang="en" sz="1500"/>
              <a:t>Has a membership tier list that encourages luxury customers to pay for “Executive Status”: Gold Membership  $65, Executive $130 - offers discounts along with 2% cashback on travel and other Costco services</a:t>
            </a:r>
            <a:br>
              <a:rPr lang="en" sz="1500"/>
            </a:br>
            <a:endParaRPr sz="1500"/>
          </a:p>
          <a:p>
            <a:pPr indent="0" lvl="0" marL="0" rtl="0" algn="l">
              <a:spcBef>
                <a:spcPts val="0"/>
              </a:spcBef>
              <a:spcAft>
                <a:spcPts val="0"/>
              </a:spcAft>
              <a:buNone/>
            </a:pPr>
            <a:r>
              <a:rPr lang="en" sz="2200"/>
              <a:t>Weaknesses:</a:t>
            </a:r>
            <a:endParaRPr sz="2200"/>
          </a:p>
          <a:p>
            <a:pPr indent="-314325" lvl="0" marL="457200" rtl="0" algn="l">
              <a:spcBef>
                <a:spcPts val="0"/>
              </a:spcBef>
              <a:spcAft>
                <a:spcPts val="0"/>
              </a:spcAft>
              <a:buSzPct val="100000"/>
              <a:buChar char="●"/>
            </a:pPr>
            <a:r>
              <a:rPr lang="en" sz="1500"/>
              <a:t>Stock price is high in comparison to its P/E (price to earning) ratio</a:t>
            </a:r>
            <a:endParaRPr sz="1500"/>
          </a:p>
          <a:p>
            <a:pPr indent="0" lvl="0" marL="457200" rtl="0" algn="l">
              <a:spcBef>
                <a:spcPts val="0"/>
              </a:spcBef>
              <a:spcAft>
                <a:spcPts val="0"/>
              </a:spcAft>
              <a:buNone/>
            </a:pPr>
            <a:r>
              <a:t/>
            </a:r>
            <a:endParaRPr sz="1500"/>
          </a:p>
          <a:p>
            <a:pPr indent="-314325" lvl="0" marL="457200" rtl="0" algn="l">
              <a:spcBef>
                <a:spcPts val="0"/>
              </a:spcBef>
              <a:spcAft>
                <a:spcPts val="0"/>
              </a:spcAft>
              <a:buSzPct val="100000"/>
              <a:buChar char="●"/>
            </a:pPr>
            <a:r>
              <a:rPr lang="en" sz="1500"/>
              <a:t>Limited product selection which can deter customers who prefer variety</a:t>
            </a:r>
            <a:endParaRPr sz="1500"/>
          </a:p>
          <a:p>
            <a:pPr indent="0" lvl="0" marL="457200" rtl="0" algn="l">
              <a:spcBef>
                <a:spcPts val="0"/>
              </a:spcBef>
              <a:spcAft>
                <a:spcPts val="0"/>
              </a:spcAft>
              <a:buNone/>
            </a:pPr>
            <a:r>
              <a:t/>
            </a:r>
            <a:endParaRPr sz="1500"/>
          </a:p>
          <a:p>
            <a:pPr indent="-314325" lvl="0" marL="457200" rtl="0" algn="l">
              <a:spcBef>
                <a:spcPts val="0"/>
              </a:spcBef>
              <a:spcAft>
                <a:spcPts val="0"/>
              </a:spcAft>
              <a:buSzPct val="100000"/>
              <a:buChar char="●"/>
            </a:pPr>
            <a:r>
              <a:rPr lang="en" sz="1500"/>
              <a:t>Reliance on North American markets instead of expanding to international</a:t>
            </a:r>
            <a:endParaRPr sz="1500"/>
          </a:p>
        </p:txBody>
      </p:sp>
      <p:sp>
        <p:nvSpPr>
          <p:cNvPr id="158" name="Google Shape;158;p16"/>
          <p:cNvSpPr txBox="1"/>
          <p:nvPr/>
        </p:nvSpPr>
        <p:spPr>
          <a:xfrm>
            <a:off x="152225" y="96875"/>
            <a:ext cx="645900" cy="2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Matt</a:t>
            </a:r>
            <a:endParaRPr sz="1300">
              <a:solidFill>
                <a:schemeClr val="l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7"/>
          <p:cNvSpPr txBox="1"/>
          <p:nvPr>
            <p:ph idx="1" type="body"/>
          </p:nvPr>
        </p:nvSpPr>
        <p:spPr>
          <a:xfrm>
            <a:off x="1342775" y="298850"/>
            <a:ext cx="7885500" cy="4703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t>Opportunities:</a:t>
            </a:r>
            <a:endParaRPr sz="2000"/>
          </a:p>
          <a:p>
            <a:pPr indent="-323850" lvl="0" marL="457200" rtl="0" algn="l">
              <a:spcBef>
                <a:spcPts val="1200"/>
              </a:spcBef>
              <a:spcAft>
                <a:spcPts val="0"/>
              </a:spcAft>
              <a:buSzPts val="1500"/>
              <a:buChar char="●"/>
            </a:pPr>
            <a:r>
              <a:rPr lang="en" sz="1500"/>
              <a:t>International markets haven’t been fully explored, this leaves revenue on the table for the company to profit on. Even  further by adapting  to local cultural trends</a:t>
            </a:r>
            <a:endParaRPr sz="1500"/>
          </a:p>
          <a:p>
            <a:pPr indent="-323850" lvl="0" marL="457200" rtl="0" algn="l">
              <a:spcBef>
                <a:spcPts val="0"/>
              </a:spcBef>
              <a:spcAft>
                <a:spcPts val="0"/>
              </a:spcAft>
              <a:buSzPts val="1500"/>
              <a:buChar char="●"/>
            </a:pPr>
            <a:r>
              <a:rPr lang="en" sz="1500"/>
              <a:t>Promote membership benefits by ensuring the promise of high quality products at best rate</a:t>
            </a:r>
            <a:br>
              <a:rPr lang="en" sz="1500"/>
            </a:br>
            <a:endParaRPr sz="1500"/>
          </a:p>
          <a:p>
            <a:pPr indent="-323850" lvl="0" marL="457200" rtl="0" algn="l">
              <a:spcBef>
                <a:spcPts val="0"/>
              </a:spcBef>
              <a:spcAft>
                <a:spcPts val="0"/>
              </a:spcAft>
              <a:buSzPts val="1500"/>
              <a:buChar char="●"/>
            </a:pPr>
            <a:r>
              <a:rPr lang="en" sz="1500"/>
              <a:t>To achieve better results with niece customer tastes costco can embrace more online shopping options along with more store formats to attract broader customer ranges</a:t>
            </a:r>
            <a:endParaRPr sz="1500"/>
          </a:p>
          <a:p>
            <a:pPr indent="0" lvl="0" marL="0" rtl="0" algn="l">
              <a:spcBef>
                <a:spcPts val="1200"/>
              </a:spcBef>
              <a:spcAft>
                <a:spcPts val="0"/>
              </a:spcAft>
              <a:buNone/>
            </a:pPr>
            <a:br>
              <a:rPr lang="en" sz="1500"/>
            </a:br>
            <a:r>
              <a:rPr lang="en" sz="2000"/>
              <a:t>Threats:</a:t>
            </a:r>
            <a:endParaRPr sz="2000"/>
          </a:p>
          <a:p>
            <a:pPr indent="-311150" lvl="0" marL="457200" rtl="0" algn="l">
              <a:spcBef>
                <a:spcPts val="1200"/>
              </a:spcBef>
              <a:spcAft>
                <a:spcPts val="0"/>
              </a:spcAft>
              <a:buSzPts val="1300"/>
              <a:buChar char="●"/>
            </a:pPr>
            <a:r>
              <a:rPr lang="en" sz="1500"/>
              <a:t>Thin profit margins which make leave it vulnerable to rising costs</a:t>
            </a:r>
            <a:br>
              <a:rPr lang="en" sz="1500"/>
            </a:br>
            <a:endParaRPr/>
          </a:p>
          <a:p>
            <a:pPr indent="-311150" lvl="0" marL="457200" rtl="0" algn="l">
              <a:spcBef>
                <a:spcPts val="0"/>
              </a:spcBef>
              <a:spcAft>
                <a:spcPts val="0"/>
              </a:spcAft>
              <a:buSzPts val="1300"/>
              <a:buChar char="●"/>
            </a:pPr>
            <a:r>
              <a:rPr lang="en"/>
              <a:t>Where Costco’s strength in physical stores is their internet market is untouched which leaves online shoppers not using their brand and turns away customers who need flexible shopping options</a:t>
            </a:r>
            <a:endParaRPr/>
          </a:p>
          <a:p>
            <a:pPr indent="-311150" lvl="0" marL="457200" rtl="0" algn="l">
              <a:spcBef>
                <a:spcPts val="0"/>
              </a:spcBef>
              <a:spcAft>
                <a:spcPts val="0"/>
              </a:spcAft>
              <a:buSzPts val="1300"/>
              <a:buChar char="●"/>
            </a:pPr>
            <a:r>
              <a:rPr lang="en"/>
              <a:t>Rising labor costs mixed with supply chain issues will cause productivity to quickly decline</a:t>
            </a:r>
            <a:endParaRPr/>
          </a:p>
        </p:txBody>
      </p:sp>
      <p:pic>
        <p:nvPicPr>
          <p:cNvPr id="164" name="Google Shape;164;p17"/>
          <p:cNvPicPr preferRelativeResize="0"/>
          <p:nvPr/>
        </p:nvPicPr>
        <p:blipFill rotWithShape="1">
          <a:blip r:embed="rId3">
            <a:alphaModFix/>
          </a:blip>
          <a:srcRect b="3633" l="21966" r="0" t="0"/>
          <a:stretch/>
        </p:blipFill>
        <p:spPr>
          <a:xfrm rot="1702877">
            <a:off x="200095" y="2830014"/>
            <a:ext cx="1914259" cy="2363970"/>
          </a:xfrm>
          <a:prstGeom prst="rect">
            <a:avLst/>
          </a:prstGeom>
          <a:noFill/>
          <a:ln>
            <a:noFill/>
          </a:ln>
        </p:spPr>
      </p:pic>
      <p:sp>
        <p:nvSpPr>
          <p:cNvPr id="165" name="Google Shape;165;p17"/>
          <p:cNvSpPr txBox="1"/>
          <p:nvPr/>
        </p:nvSpPr>
        <p:spPr>
          <a:xfrm>
            <a:off x="152225" y="96875"/>
            <a:ext cx="645900" cy="2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Matt</a:t>
            </a:r>
            <a:endParaRPr sz="1300">
              <a:solidFill>
                <a:schemeClr val="l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8"/>
          <p:cNvSpPr txBox="1"/>
          <p:nvPr>
            <p:ph type="title"/>
          </p:nvPr>
        </p:nvSpPr>
        <p:spPr>
          <a:xfrm>
            <a:off x="1297500" y="393750"/>
            <a:ext cx="7688400" cy="257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t>Competitive Position</a:t>
            </a:r>
            <a:endParaRPr sz="2000"/>
          </a:p>
          <a:p>
            <a:pPr indent="-317500" lvl="0" marL="457200" rtl="0" algn="l">
              <a:spcBef>
                <a:spcPts val="0"/>
              </a:spcBef>
              <a:spcAft>
                <a:spcPts val="0"/>
              </a:spcAft>
              <a:buSzPts val="1400"/>
              <a:buChar char="●"/>
            </a:pPr>
            <a:r>
              <a:rPr lang="en" sz="1400"/>
              <a:t>Is the dominant entity in warehouse club industry having significant market share</a:t>
            </a:r>
            <a:endParaRPr sz="1400"/>
          </a:p>
          <a:p>
            <a:pPr indent="-317500" lvl="0" marL="457200" rtl="0" algn="l">
              <a:spcBef>
                <a:spcPts val="0"/>
              </a:spcBef>
              <a:spcAft>
                <a:spcPts val="0"/>
              </a:spcAft>
              <a:buSzPts val="1400"/>
              <a:buChar char="●"/>
            </a:pPr>
            <a:r>
              <a:rPr lang="en" sz="1400"/>
              <a:t>Its membership-based business model leads to strong customer loyalty</a:t>
            </a:r>
            <a:endParaRPr sz="1400"/>
          </a:p>
          <a:p>
            <a:pPr indent="-317500" lvl="0" marL="457200" rtl="0" algn="l">
              <a:spcBef>
                <a:spcPts val="0"/>
              </a:spcBef>
              <a:spcAft>
                <a:spcPts val="0"/>
              </a:spcAft>
              <a:buSzPts val="1400"/>
              <a:buChar char="●"/>
            </a:pPr>
            <a:r>
              <a:rPr lang="en" sz="1400"/>
              <a:t>With profits from memberships Costco can afford to give low prices on products which lead to higher sales volume</a:t>
            </a:r>
            <a:endParaRPr sz="1400"/>
          </a:p>
          <a:p>
            <a:pPr indent="-317500" lvl="0" marL="457200" rtl="0" algn="l">
              <a:spcBef>
                <a:spcPts val="0"/>
              </a:spcBef>
              <a:spcAft>
                <a:spcPts val="0"/>
              </a:spcAft>
              <a:buSzPts val="1400"/>
              <a:buChar char="●"/>
            </a:pPr>
            <a:r>
              <a:rPr lang="en" sz="1400"/>
              <a:t>Costco’s model is built on offering high quality products in bulk at discounted prices for its customers</a:t>
            </a:r>
            <a:endParaRPr sz="1400"/>
          </a:p>
          <a:p>
            <a:pPr indent="-317500" lvl="0" marL="457200" rtl="0" algn="l">
              <a:spcBef>
                <a:spcPts val="0"/>
              </a:spcBef>
              <a:spcAft>
                <a:spcPts val="0"/>
              </a:spcAft>
              <a:buSzPts val="1400"/>
              <a:buChar char="●"/>
            </a:pPr>
            <a:r>
              <a:rPr lang="en" sz="1400"/>
              <a:t>Is the leader in warehouse club market having 60-70%</a:t>
            </a:r>
            <a:endParaRPr sz="1400"/>
          </a:p>
        </p:txBody>
      </p:sp>
      <p:sp>
        <p:nvSpPr>
          <p:cNvPr id="171" name="Google Shape;171;p18"/>
          <p:cNvSpPr txBox="1"/>
          <p:nvPr>
            <p:ph idx="1" type="body"/>
          </p:nvPr>
        </p:nvSpPr>
        <p:spPr>
          <a:xfrm>
            <a:off x="1297500" y="2973050"/>
            <a:ext cx="3274500" cy="195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t>Market Share</a:t>
            </a:r>
            <a:endParaRPr sz="2000"/>
          </a:p>
          <a:p>
            <a:pPr indent="-317500" lvl="0" marL="457200" rtl="0" algn="l">
              <a:spcBef>
                <a:spcPts val="1200"/>
              </a:spcBef>
              <a:spcAft>
                <a:spcPts val="0"/>
              </a:spcAft>
              <a:buSzPts val="1400"/>
              <a:buChar char="●"/>
            </a:pPr>
            <a:r>
              <a:rPr lang="en" sz="1400"/>
              <a:t>Holds 60% of US warehouse club market</a:t>
            </a:r>
            <a:endParaRPr sz="1400"/>
          </a:p>
          <a:p>
            <a:pPr indent="-317500" lvl="0" marL="457200" rtl="0" algn="l">
              <a:spcBef>
                <a:spcPts val="0"/>
              </a:spcBef>
              <a:spcAft>
                <a:spcPts val="0"/>
              </a:spcAft>
              <a:buSzPts val="1400"/>
              <a:buChar char="●"/>
            </a:pPr>
            <a:r>
              <a:rPr lang="en" sz="1400"/>
              <a:t>Smaller than Amazon or Walmart</a:t>
            </a:r>
            <a:endParaRPr sz="1400"/>
          </a:p>
          <a:p>
            <a:pPr indent="-317500" lvl="0" marL="457200" rtl="0" algn="l">
              <a:spcBef>
                <a:spcPts val="0"/>
              </a:spcBef>
              <a:spcAft>
                <a:spcPts val="0"/>
              </a:spcAft>
              <a:buSzPts val="1400"/>
              <a:buChar char="●"/>
            </a:pPr>
            <a:r>
              <a:rPr lang="en" sz="1400"/>
              <a:t>8.4% of US grocery dollars</a:t>
            </a:r>
            <a:endParaRPr sz="1400"/>
          </a:p>
          <a:p>
            <a:pPr indent="-317500" lvl="0" marL="457200" rtl="0" algn="l">
              <a:spcBef>
                <a:spcPts val="0"/>
              </a:spcBef>
              <a:spcAft>
                <a:spcPts val="0"/>
              </a:spcAft>
              <a:buSzPts val="1400"/>
              <a:buChar char="●"/>
            </a:pPr>
            <a:r>
              <a:rPr lang="en" sz="1400"/>
              <a:t>Net sales of $249.6 billion</a:t>
            </a:r>
            <a:endParaRPr sz="1400"/>
          </a:p>
        </p:txBody>
      </p:sp>
      <p:sp>
        <p:nvSpPr>
          <p:cNvPr id="172" name="Google Shape;172;p18"/>
          <p:cNvSpPr txBox="1"/>
          <p:nvPr/>
        </p:nvSpPr>
        <p:spPr>
          <a:xfrm>
            <a:off x="4572000" y="3000350"/>
            <a:ext cx="23265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ato"/>
                <a:ea typeface="Lato"/>
                <a:cs typeface="Lato"/>
                <a:sym typeface="Lato"/>
              </a:rPr>
              <a:t>Walmart</a:t>
            </a:r>
            <a:endParaRPr sz="2000">
              <a:solidFill>
                <a:schemeClr val="lt1"/>
              </a:solidFill>
              <a:latin typeface="Lato"/>
              <a:ea typeface="Lato"/>
              <a:cs typeface="Lato"/>
              <a:sym typeface="Lato"/>
            </a:endParaRPr>
          </a:p>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Holds 21% of US grocery dollars</a:t>
            </a:r>
            <a:endParaRPr>
              <a:solidFill>
                <a:schemeClr val="lt1"/>
              </a:solidFill>
              <a:latin typeface="Lato"/>
              <a:ea typeface="Lato"/>
              <a:cs typeface="Lato"/>
              <a:sym typeface="Lato"/>
            </a:endParaRPr>
          </a:p>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Largest retailer in  the world</a:t>
            </a:r>
            <a:endParaRPr>
              <a:solidFill>
                <a:schemeClr val="lt1"/>
              </a:solidFill>
              <a:latin typeface="Lato"/>
              <a:ea typeface="Lato"/>
              <a:cs typeface="Lato"/>
              <a:sym typeface="Lato"/>
            </a:endParaRPr>
          </a:p>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Consistently in top position of US grocery market share</a:t>
            </a:r>
            <a:endParaRPr>
              <a:solidFill>
                <a:schemeClr val="lt1"/>
              </a:solidFill>
              <a:latin typeface="Lato"/>
              <a:ea typeface="Lato"/>
              <a:cs typeface="Lato"/>
              <a:sym typeface="Lato"/>
            </a:endParaRPr>
          </a:p>
        </p:txBody>
      </p:sp>
      <p:sp>
        <p:nvSpPr>
          <p:cNvPr id="173" name="Google Shape;173;p18"/>
          <p:cNvSpPr txBox="1"/>
          <p:nvPr/>
        </p:nvSpPr>
        <p:spPr>
          <a:xfrm>
            <a:off x="6533750" y="2973050"/>
            <a:ext cx="2610300" cy="195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ato"/>
                <a:ea typeface="Lato"/>
                <a:cs typeface="Lato"/>
                <a:sym typeface="Lato"/>
              </a:rPr>
              <a:t>Sam’s Club</a:t>
            </a:r>
            <a:endParaRPr sz="2000">
              <a:solidFill>
                <a:schemeClr val="lt1"/>
              </a:solidFill>
              <a:latin typeface="Lato"/>
              <a:ea typeface="Lato"/>
              <a:cs typeface="Lato"/>
              <a:sym typeface="Lato"/>
            </a:endParaRPr>
          </a:p>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Holds 31% of US warehouse club market</a:t>
            </a:r>
            <a:endParaRPr>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Second-largest club store in the US</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Had net sales of $90.2 billion</a:t>
            </a:r>
            <a:endParaRPr sz="1300">
              <a:solidFill>
                <a:schemeClr val="lt1"/>
              </a:solidFill>
              <a:latin typeface="Lato"/>
              <a:ea typeface="Lato"/>
              <a:cs typeface="Lato"/>
              <a:sym typeface="Lato"/>
            </a:endParaRPr>
          </a:p>
        </p:txBody>
      </p:sp>
      <p:pic>
        <p:nvPicPr>
          <p:cNvPr id="174" name="Google Shape;174;p18"/>
          <p:cNvPicPr preferRelativeResize="0"/>
          <p:nvPr/>
        </p:nvPicPr>
        <p:blipFill>
          <a:blip r:embed="rId3">
            <a:alphaModFix/>
          </a:blip>
          <a:stretch>
            <a:fillRect/>
          </a:stretch>
        </p:blipFill>
        <p:spPr>
          <a:xfrm>
            <a:off x="-209875" y="3238500"/>
            <a:ext cx="1905000" cy="1905000"/>
          </a:xfrm>
          <a:prstGeom prst="rect">
            <a:avLst/>
          </a:prstGeom>
          <a:noFill/>
          <a:ln>
            <a:noFill/>
          </a:ln>
        </p:spPr>
      </p:pic>
      <p:sp>
        <p:nvSpPr>
          <p:cNvPr id="175" name="Google Shape;175;p18"/>
          <p:cNvSpPr txBox="1"/>
          <p:nvPr/>
        </p:nvSpPr>
        <p:spPr>
          <a:xfrm>
            <a:off x="152225" y="96875"/>
            <a:ext cx="645900" cy="2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Matt</a:t>
            </a:r>
            <a:endParaRPr sz="1300">
              <a:solidFill>
                <a:schemeClr val="l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9"/>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 Year Sales &amp; Profitability Trends/Future Projections</a:t>
            </a:r>
            <a:endParaRPr/>
          </a:p>
        </p:txBody>
      </p:sp>
      <p:sp>
        <p:nvSpPr>
          <p:cNvPr id="181" name="Google Shape;181;p19"/>
          <p:cNvSpPr txBox="1"/>
          <p:nvPr>
            <p:ph idx="1" type="body"/>
          </p:nvPr>
        </p:nvSpPr>
        <p:spPr>
          <a:xfrm>
            <a:off x="4791725" y="1579925"/>
            <a:ext cx="3869400" cy="28029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Given how Costco is structured they are projected to experience a steady growth over the next few years.</a:t>
            </a:r>
            <a:endParaRPr/>
          </a:p>
          <a:p>
            <a:pPr indent="-311150" lvl="0" marL="457200" rtl="0" algn="l">
              <a:spcBef>
                <a:spcPts val="0"/>
              </a:spcBef>
              <a:spcAft>
                <a:spcPts val="0"/>
              </a:spcAft>
              <a:buSzPts val="1300"/>
              <a:buChar char="-"/>
            </a:pPr>
            <a:r>
              <a:rPr lang="en"/>
              <a:t>Through increased memberships, a continued effort to expand </a:t>
            </a:r>
            <a:r>
              <a:rPr lang="en"/>
              <a:t>globally</a:t>
            </a:r>
            <a:r>
              <a:rPr lang="en"/>
              <a:t>, and low cost operations Costco is positioned well.</a:t>
            </a:r>
            <a:endParaRPr/>
          </a:p>
          <a:p>
            <a:pPr indent="-311150" lvl="0" marL="457200" rtl="0" algn="l">
              <a:spcBef>
                <a:spcPts val="0"/>
              </a:spcBef>
              <a:spcAft>
                <a:spcPts val="0"/>
              </a:spcAft>
              <a:buSzPts val="1300"/>
              <a:buChar char="-"/>
            </a:pPr>
            <a:r>
              <a:rPr lang="en"/>
              <a:t>Over the next 5 years, Costco is expected to repay 2.58 billion in debt which is manageable given their growth and current cash flows.</a:t>
            </a:r>
            <a:endParaRPr/>
          </a:p>
        </p:txBody>
      </p:sp>
      <p:graphicFrame>
        <p:nvGraphicFramePr>
          <p:cNvPr id="182" name="Google Shape;182;p19"/>
          <p:cNvGraphicFramePr/>
          <p:nvPr/>
        </p:nvGraphicFramePr>
        <p:xfrm>
          <a:off x="239450" y="1549675"/>
          <a:ext cx="3000000" cy="3000000"/>
        </p:xfrm>
        <a:graphic>
          <a:graphicData uri="http://schemas.openxmlformats.org/drawingml/2006/table">
            <a:tbl>
              <a:tblPr>
                <a:noFill/>
                <a:tableStyleId>{31AEE63F-8D4A-4447-B774-5A6AFB050FAB}</a:tableStyleId>
              </a:tblPr>
              <a:tblGrid>
                <a:gridCol w="1099775"/>
                <a:gridCol w="1099775"/>
                <a:gridCol w="1099775"/>
                <a:gridCol w="1099775"/>
              </a:tblGrid>
              <a:tr h="560650">
                <a:tc>
                  <a:txBody>
                    <a:bodyPr/>
                    <a:lstStyle/>
                    <a:p>
                      <a:pPr indent="0" lvl="0" marL="0" rtl="0" algn="l">
                        <a:spcBef>
                          <a:spcPts val="0"/>
                        </a:spcBef>
                        <a:spcAft>
                          <a:spcPts val="0"/>
                        </a:spcAft>
                        <a:buNone/>
                      </a:pPr>
                      <a:r>
                        <a:t/>
                      </a:r>
                      <a:endParaRPr sz="12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rPr>
                        <a:t>2020</a:t>
                      </a:r>
                      <a:endParaRPr sz="12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rPr>
                        <a:t>2024</a:t>
                      </a:r>
                      <a:endParaRPr sz="12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rPr>
                        <a:t>% Increase over 5 Years</a:t>
                      </a:r>
                      <a:endParaRPr sz="1200">
                        <a:solidFill>
                          <a:schemeClr val="lt1"/>
                        </a:solidFill>
                      </a:endParaRPr>
                    </a:p>
                  </a:txBody>
                  <a:tcPr marT="91425" marB="91425" marR="91425" marL="91425"/>
                </a:tc>
              </a:tr>
              <a:tr h="560650">
                <a:tc>
                  <a:txBody>
                    <a:bodyPr/>
                    <a:lstStyle/>
                    <a:p>
                      <a:pPr indent="0" lvl="0" marL="0" rtl="0" algn="l">
                        <a:spcBef>
                          <a:spcPts val="0"/>
                        </a:spcBef>
                        <a:spcAft>
                          <a:spcPts val="0"/>
                        </a:spcAft>
                        <a:buNone/>
                      </a:pPr>
                      <a:r>
                        <a:rPr lang="en" sz="1200">
                          <a:solidFill>
                            <a:schemeClr val="lt1"/>
                          </a:solidFill>
                        </a:rPr>
                        <a:t>Net Sales</a:t>
                      </a:r>
                      <a:endParaRPr sz="12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rPr>
                        <a:t>$163.22 billion</a:t>
                      </a:r>
                      <a:endParaRPr sz="12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rPr>
                        <a:t>$249.67 billion</a:t>
                      </a:r>
                      <a:endParaRPr sz="12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rPr>
                        <a:t>53%</a:t>
                      </a:r>
                      <a:endParaRPr sz="1200">
                        <a:solidFill>
                          <a:schemeClr val="lt1"/>
                        </a:solidFill>
                      </a:endParaRPr>
                    </a:p>
                  </a:txBody>
                  <a:tcPr marT="91425" marB="91425" marR="91425" marL="91425"/>
                </a:tc>
              </a:tr>
              <a:tr h="529250">
                <a:tc>
                  <a:txBody>
                    <a:bodyPr/>
                    <a:lstStyle/>
                    <a:p>
                      <a:pPr indent="0" lvl="0" marL="0" rtl="0" algn="l">
                        <a:spcBef>
                          <a:spcPts val="0"/>
                        </a:spcBef>
                        <a:spcAft>
                          <a:spcPts val="0"/>
                        </a:spcAft>
                        <a:buNone/>
                      </a:pPr>
                      <a:r>
                        <a:rPr lang="en" sz="1200">
                          <a:solidFill>
                            <a:schemeClr val="lt1"/>
                          </a:solidFill>
                        </a:rPr>
                        <a:t>Net Income</a:t>
                      </a:r>
                      <a:endParaRPr sz="12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rPr>
                        <a:t>$4 billion</a:t>
                      </a:r>
                      <a:endParaRPr sz="12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rPr>
                        <a:t>$7.4 billion</a:t>
                      </a:r>
                      <a:endParaRPr sz="12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rPr>
                        <a:t>85%</a:t>
                      </a:r>
                      <a:endParaRPr sz="1200">
                        <a:solidFill>
                          <a:schemeClr val="lt1"/>
                        </a:solidFill>
                      </a:endParaRPr>
                    </a:p>
                  </a:txBody>
                  <a:tcPr marT="91425" marB="91425" marR="91425" marL="91425"/>
                </a:tc>
              </a:tr>
              <a:tr h="560650">
                <a:tc>
                  <a:txBody>
                    <a:bodyPr/>
                    <a:lstStyle/>
                    <a:p>
                      <a:pPr indent="0" lvl="0" marL="0" rtl="0" algn="l">
                        <a:spcBef>
                          <a:spcPts val="0"/>
                        </a:spcBef>
                        <a:spcAft>
                          <a:spcPts val="0"/>
                        </a:spcAft>
                        <a:buNone/>
                      </a:pPr>
                      <a:r>
                        <a:rPr lang="en" sz="1200">
                          <a:solidFill>
                            <a:schemeClr val="lt1"/>
                          </a:solidFill>
                        </a:rPr>
                        <a:t>Memberships</a:t>
                      </a:r>
                      <a:endParaRPr sz="12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rPr>
                        <a:t>105.5 million</a:t>
                      </a:r>
                      <a:endParaRPr sz="12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rPr>
                        <a:t>137 million</a:t>
                      </a:r>
                      <a:endParaRPr sz="12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rPr>
                        <a:t>30%</a:t>
                      </a:r>
                      <a:endParaRPr sz="1200">
                        <a:solidFill>
                          <a:schemeClr val="lt1"/>
                        </a:solidFill>
                      </a:endParaRPr>
                    </a:p>
                  </a:txBody>
                  <a:tcPr marT="91425" marB="91425" marR="91425" marL="91425"/>
                </a:tc>
              </a:tr>
            </a:tbl>
          </a:graphicData>
        </a:graphic>
      </p:graphicFrame>
      <p:pic>
        <p:nvPicPr>
          <p:cNvPr id="183" name="Google Shape;183;p19"/>
          <p:cNvPicPr preferRelativeResize="0"/>
          <p:nvPr/>
        </p:nvPicPr>
        <p:blipFill>
          <a:blip r:embed="rId3">
            <a:alphaModFix/>
          </a:blip>
          <a:stretch>
            <a:fillRect/>
          </a:stretch>
        </p:blipFill>
        <p:spPr>
          <a:xfrm>
            <a:off x="7350700" y="108999"/>
            <a:ext cx="1253501" cy="1483600"/>
          </a:xfrm>
          <a:prstGeom prst="rect">
            <a:avLst/>
          </a:prstGeom>
          <a:noFill/>
          <a:ln>
            <a:noFill/>
          </a:ln>
        </p:spPr>
      </p:pic>
      <p:sp>
        <p:nvSpPr>
          <p:cNvPr id="184" name="Google Shape;184;p19"/>
          <p:cNvSpPr txBox="1"/>
          <p:nvPr/>
        </p:nvSpPr>
        <p:spPr>
          <a:xfrm>
            <a:off x="7444300" y="4706150"/>
            <a:ext cx="1606800" cy="32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Lato"/>
                <a:ea typeface="Lato"/>
                <a:cs typeface="Lato"/>
                <a:sym typeface="Lato"/>
              </a:rPr>
              <a:t>Adam</a:t>
            </a:r>
            <a:endParaRPr sz="1300">
              <a:solidFill>
                <a:schemeClr val="l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Key Financial Metrics</a:t>
            </a:r>
            <a:endParaRPr/>
          </a:p>
        </p:txBody>
      </p:sp>
      <p:sp>
        <p:nvSpPr>
          <p:cNvPr id="190" name="Google Shape;190;p20"/>
          <p:cNvSpPr txBox="1"/>
          <p:nvPr>
            <p:ph idx="1" type="body"/>
          </p:nvPr>
        </p:nvSpPr>
        <p:spPr>
          <a:xfrm>
            <a:off x="418325" y="1587750"/>
            <a:ext cx="5855100" cy="31287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Costco has experienced a growth in revenue of 53% over the past 5 years with their net income increasing by over 17% in the last year. </a:t>
            </a:r>
            <a:endParaRPr sz="1400"/>
          </a:p>
          <a:p>
            <a:pPr indent="-317500" lvl="0" marL="457200" rtl="0" algn="l">
              <a:spcBef>
                <a:spcPts val="0"/>
              </a:spcBef>
              <a:spcAft>
                <a:spcPts val="0"/>
              </a:spcAft>
              <a:buSzPts val="1400"/>
              <a:buChar char="-"/>
            </a:pPr>
            <a:r>
              <a:rPr lang="en" sz="1400"/>
              <a:t>Costco’s most recent ROE was about 31% which is an increase in almost 14% from the year prior, indicating that shareholder returns are strong. </a:t>
            </a:r>
            <a:endParaRPr sz="1400"/>
          </a:p>
          <a:p>
            <a:pPr indent="-317500" lvl="0" marL="457200" rtl="0" algn="l">
              <a:spcBef>
                <a:spcPts val="0"/>
              </a:spcBef>
              <a:spcAft>
                <a:spcPts val="0"/>
              </a:spcAft>
              <a:buSzPts val="1400"/>
              <a:buChar char="-"/>
            </a:pPr>
            <a:r>
              <a:rPr lang="en" sz="1400"/>
              <a:t>The return on capital employed </a:t>
            </a:r>
            <a:r>
              <a:rPr lang="en" sz="1400"/>
              <a:t>sits at about 27%</a:t>
            </a:r>
            <a:r>
              <a:rPr lang="en" sz="1400"/>
              <a:t> </a:t>
            </a:r>
            <a:r>
              <a:rPr lang="en" sz="1400"/>
              <a:t>which when compared to the average of 11% Costco is doing exceptionally well.</a:t>
            </a:r>
            <a:endParaRPr sz="1400"/>
          </a:p>
          <a:p>
            <a:pPr indent="-317500" lvl="0" marL="457200" rtl="0" algn="l">
              <a:spcBef>
                <a:spcPts val="0"/>
              </a:spcBef>
              <a:spcAft>
                <a:spcPts val="0"/>
              </a:spcAft>
              <a:buSzPts val="1400"/>
              <a:buChar char="-"/>
            </a:pPr>
            <a:r>
              <a:rPr lang="en" sz="1400"/>
              <a:t>Costco’s inventory turnover was about 12 in the most recent report showing their ability to not only get rid of their products quickly but also efficiently.</a:t>
            </a:r>
            <a:endParaRPr sz="1400"/>
          </a:p>
        </p:txBody>
      </p:sp>
      <p:pic>
        <p:nvPicPr>
          <p:cNvPr id="191" name="Google Shape;191;p20"/>
          <p:cNvPicPr preferRelativeResize="0"/>
          <p:nvPr/>
        </p:nvPicPr>
        <p:blipFill>
          <a:blip r:embed="rId3">
            <a:alphaModFix/>
          </a:blip>
          <a:stretch>
            <a:fillRect/>
          </a:stretch>
        </p:blipFill>
        <p:spPr>
          <a:xfrm>
            <a:off x="6440225" y="1587750"/>
            <a:ext cx="2496724" cy="2496724"/>
          </a:xfrm>
          <a:prstGeom prst="rect">
            <a:avLst/>
          </a:prstGeom>
          <a:noFill/>
          <a:ln>
            <a:noFill/>
          </a:ln>
        </p:spPr>
      </p:pic>
      <p:sp>
        <p:nvSpPr>
          <p:cNvPr id="192" name="Google Shape;192;p20"/>
          <p:cNvSpPr txBox="1"/>
          <p:nvPr/>
        </p:nvSpPr>
        <p:spPr>
          <a:xfrm>
            <a:off x="7558375" y="4696650"/>
            <a:ext cx="1464300" cy="37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Lato"/>
                <a:ea typeface="Lato"/>
                <a:cs typeface="Lato"/>
                <a:sym typeface="Lato"/>
              </a:rPr>
              <a:t>Adam</a:t>
            </a:r>
            <a:endParaRPr sz="1300">
              <a:solidFill>
                <a:schemeClr val="l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Overview</a:t>
            </a:r>
            <a:r>
              <a:rPr lang="en"/>
              <a:t> of Costco’s Supply Chain Network</a:t>
            </a:r>
            <a:endParaRPr/>
          </a:p>
        </p:txBody>
      </p:sp>
      <p:sp>
        <p:nvSpPr>
          <p:cNvPr id="198" name="Google Shape;198;p21"/>
          <p:cNvSpPr txBox="1"/>
          <p:nvPr>
            <p:ph idx="1" type="body"/>
          </p:nvPr>
        </p:nvSpPr>
        <p:spPr>
          <a:xfrm>
            <a:off x="1297500" y="10541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Costco currently operates over 900 warehouses worldwide with over 30% being outside the U.S. in places like Japan and Canada.</a:t>
            </a:r>
            <a:endParaRPr/>
          </a:p>
          <a:p>
            <a:pPr indent="-311150" lvl="0" marL="457200" rtl="0" algn="l">
              <a:spcBef>
                <a:spcPts val="0"/>
              </a:spcBef>
              <a:spcAft>
                <a:spcPts val="0"/>
              </a:spcAft>
              <a:buSzPts val="1300"/>
              <a:buChar char="-"/>
            </a:pPr>
            <a:r>
              <a:rPr lang="en"/>
              <a:t>Costco has a centralized buying and distributing model allowing them to work with their suppliers and ship products at low costs.</a:t>
            </a:r>
            <a:endParaRPr/>
          </a:p>
          <a:p>
            <a:pPr indent="-311150" lvl="0" marL="457200" rtl="0" algn="l">
              <a:spcBef>
                <a:spcPts val="0"/>
              </a:spcBef>
              <a:spcAft>
                <a:spcPts val="0"/>
              </a:spcAft>
              <a:buSzPts val="1300"/>
              <a:buChar char="-"/>
            </a:pPr>
            <a:r>
              <a:rPr lang="en"/>
              <a:t>Costco has a variety of relationships with different supply sources, including brands like Kirkland Signature. If problems arise and a supplier becomes unavailable they immediately seek alternatives to ensure there’s product availability.</a:t>
            </a:r>
            <a:endParaRPr/>
          </a:p>
          <a:p>
            <a:pPr indent="-311150" lvl="0" marL="457200" rtl="0" algn="l">
              <a:spcBef>
                <a:spcPts val="0"/>
              </a:spcBef>
              <a:spcAft>
                <a:spcPts val="0"/>
              </a:spcAft>
              <a:buSzPts val="1300"/>
              <a:buChar char="-"/>
            </a:pPr>
            <a:r>
              <a:rPr lang="en"/>
              <a:t>As a company Costco has less than 4,000 unique items for sale compared to other supermarkets who may carry 10 times as much. This allows for more efficiency, lower costs, and a simpler inventory making it an </a:t>
            </a:r>
            <a:r>
              <a:rPr lang="en"/>
              <a:t>easier</a:t>
            </a:r>
            <a:r>
              <a:rPr lang="en"/>
              <a:t> experience for customers.</a:t>
            </a:r>
            <a:endParaRPr/>
          </a:p>
        </p:txBody>
      </p:sp>
      <p:pic>
        <p:nvPicPr>
          <p:cNvPr id="199" name="Google Shape;199;p21"/>
          <p:cNvPicPr preferRelativeResize="0"/>
          <p:nvPr/>
        </p:nvPicPr>
        <p:blipFill>
          <a:blip r:embed="rId3">
            <a:alphaModFix/>
          </a:blip>
          <a:stretch>
            <a:fillRect/>
          </a:stretch>
        </p:blipFill>
        <p:spPr>
          <a:xfrm>
            <a:off x="3077250" y="3545101"/>
            <a:ext cx="4141627" cy="1598400"/>
          </a:xfrm>
          <a:prstGeom prst="rect">
            <a:avLst/>
          </a:prstGeom>
          <a:noFill/>
          <a:ln>
            <a:noFill/>
          </a:ln>
        </p:spPr>
      </p:pic>
      <p:sp>
        <p:nvSpPr>
          <p:cNvPr id="200" name="Google Shape;200;p21"/>
          <p:cNvSpPr txBox="1"/>
          <p:nvPr/>
        </p:nvSpPr>
        <p:spPr>
          <a:xfrm>
            <a:off x="7520350" y="4668125"/>
            <a:ext cx="1492800" cy="37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Lato"/>
                <a:ea typeface="Lato"/>
                <a:cs typeface="Lato"/>
                <a:sym typeface="Lato"/>
              </a:rPr>
              <a:t>Adam</a:t>
            </a:r>
            <a:endParaRPr sz="1300">
              <a:solidFill>
                <a:schemeClr val="l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Technology &amp; Advancements</a:t>
            </a:r>
            <a:endParaRPr/>
          </a:p>
        </p:txBody>
      </p:sp>
      <p:sp>
        <p:nvSpPr>
          <p:cNvPr id="206" name="Google Shape;206;p22"/>
          <p:cNvSpPr txBox="1"/>
          <p:nvPr>
            <p:ph idx="1" type="body"/>
          </p:nvPr>
        </p:nvSpPr>
        <p:spPr>
          <a:xfrm>
            <a:off x="1147975" y="1014325"/>
            <a:ext cx="7038900" cy="3763800"/>
          </a:xfrm>
          <a:prstGeom prst="rect">
            <a:avLst/>
          </a:prstGeom>
        </p:spPr>
        <p:txBody>
          <a:bodyPr anchorCtr="0" anchor="t" bIns="91425" lIns="91425" spcFirstLastPara="1" rIns="91425" wrap="square" tIns="91425">
            <a:normAutofit lnSpcReduction="10000"/>
          </a:bodyPr>
          <a:lstStyle/>
          <a:p>
            <a:pPr indent="0" lvl="0" marL="457200" rtl="0" algn="l">
              <a:spcBef>
                <a:spcPts val="0"/>
              </a:spcBef>
              <a:spcAft>
                <a:spcPts val="0"/>
              </a:spcAft>
              <a:buNone/>
            </a:pPr>
            <a:r>
              <a:rPr i="1" lang="en"/>
              <a:t>Warehouse Advancements</a:t>
            </a:r>
            <a:endParaRPr i="1"/>
          </a:p>
          <a:p>
            <a:pPr indent="-317500" lvl="0" marL="457200" rtl="0" algn="l">
              <a:spcBef>
                <a:spcPts val="1200"/>
              </a:spcBef>
              <a:spcAft>
                <a:spcPts val="0"/>
              </a:spcAft>
              <a:buSzPts val="1400"/>
              <a:buChar char="●"/>
            </a:pPr>
            <a:r>
              <a:rPr lang="en"/>
              <a:t>Costco's</a:t>
            </a:r>
            <a:r>
              <a:rPr lang="en"/>
              <a:t> has been consistently integrating new </a:t>
            </a:r>
            <a:r>
              <a:rPr lang="en"/>
              <a:t>technology</a:t>
            </a:r>
            <a:r>
              <a:rPr lang="en"/>
              <a:t> within its supply chain to optimize each step of the system </a:t>
            </a:r>
            <a:endParaRPr/>
          </a:p>
          <a:p>
            <a:pPr indent="-317500" lvl="0" marL="457200" rtl="0" algn="l">
              <a:spcBef>
                <a:spcPts val="0"/>
              </a:spcBef>
              <a:spcAft>
                <a:spcPts val="0"/>
              </a:spcAft>
              <a:buSzPts val="1400"/>
              <a:buChar char="●"/>
            </a:pPr>
            <a:r>
              <a:rPr lang="en"/>
              <a:t>Automated Materials Handling systems via </a:t>
            </a:r>
            <a:r>
              <a:rPr b="1" lang="en"/>
              <a:t>robotic case de-palletizing system</a:t>
            </a:r>
            <a:r>
              <a:rPr lang="en"/>
              <a:t> </a:t>
            </a:r>
            <a:endParaRPr/>
          </a:p>
          <a:p>
            <a:pPr indent="-317500" lvl="0" marL="457200" rtl="0" algn="l">
              <a:spcBef>
                <a:spcPts val="0"/>
              </a:spcBef>
              <a:spcAft>
                <a:spcPts val="0"/>
              </a:spcAft>
              <a:buSzPts val="1400"/>
              <a:buChar char="●"/>
            </a:pPr>
            <a:r>
              <a:rPr lang="en"/>
              <a:t>Costco's</a:t>
            </a:r>
            <a:r>
              <a:rPr lang="en"/>
              <a:t> main focus when integrating technology is to reduce the average time spent by an employee on a task, allowing for their optimistic output estimates</a:t>
            </a:r>
            <a:endParaRPr/>
          </a:p>
          <a:p>
            <a:pPr indent="-311150" lvl="0" marL="457200" rtl="0" algn="l">
              <a:spcBef>
                <a:spcPts val="0"/>
              </a:spcBef>
              <a:spcAft>
                <a:spcPts val="0"/>
              </a:spcAft>
              <a:buSzPts val="1300"/>
              <a:buChar char="●"/>
            </a:pPr>
            <a:r>
              <a:rPr lang="en"/>
              <a:t>Real time inventory tracking in warehouse</a:t>
            </a:r>
            <a:endParaRPr/>
          </a:p>
          <a:p>
            <a:pPr indent="0" lvl="0" marL="457200" rtl="0" algn="l">
              <a:spcBef>
                <a:spcPts val="1200"/>
              </a:spcBef>
              <a:spcAft>
                <a:spcPts val="0"/>
              </a:spcAft>
              <a:buNone/>
            </a:pPr>
            <a:r>
              <a:rPr i="1" lang="en"/>
              <a:t>In- Store </a:t>
            </a:r>
            <a:r>
              <a:rPr i="1" lang="en"/>
              <a:t>Advancements</a:t>
            </a:r>
            <a:endParaRPr i="1"/>
          </a:p>
          <a:p>
            <a:pPr indent="-311150" lvl="0" marL="457200" rtl="0" algn="l">
              <a:spcBef>
                <a:spcPts val="1200"/>
              </a:spcBef>
              <a:spcAft>
                <a:spcPts val="0"/>
              </a:spcAft>
              <a:buSzPts val="1300"/>
              <a:buChar char="●"/>
            </a:pPr>
            <a:r>
              <a:rPr lang="en"/>
              <a:t>Scan-and-pay Pilot program</a:t>
            </a:r>
            <a:endParaRPr/>
          </a:p>
          <a:p>
            <a:pPr indent="-311150" lvl="0" marL="457200" rtl="0" algn="l">
              <a:spcBef>
                <a:spcPts val="0"/>
              </a:spcBef>
              <a:spcAft>
                <a:spcPts val="0"/>
              </a:spcAft>
              <a:buSzPts val="1300"/>
              <a:buChar char="●"/>
            </a:pPr>
            <a:r>
              <a:rPr lang="en"/>
              <a:t>Express checkout kiosks integrated with AI assistant</a:t>
            </a:r>
            <a:endParaRPr/>
          </a:p>
          <a:p>
            <a:pPr indent="0" lvl="0" marL="457200" rtl="0" algn="l">
              <a:spcBef>
                <a:spcPts val="1200"/>
              </a:spcBef>
              <a:spcAft>
                <a:spcPts val="0"/>
              </a:spcAft>
              <a:buNone/>
            </a:pPr>
            <a:r>
              <a:rPr i="1" lang="en"/>
              <a:t>Let's Talk Numbers</a:t>
            </a:r>
            <a:endParaRPr i="1"/>
          </a:p>
          <a:p>
            <a:pPr indent="-311150" lvl="0" marL="457200" rtl="0" algn="l">
              <a:spcBef>
                <a:spcPts val="1200"/>
              </a:spcBef>
              <a:spcAft>
                <a:spcPts val="0"/>
              </a:spcAft>
              <a:buSzPts val="1300"/>
              <a:buChar char="●"/>
            </a:pPr>
            <a:r>
              <a:rPr lang="en"/>
              <a:t>Use of AI/ML to optimize inventory increased limited stock of 4,000 items</a:t>
            </a:r>
            <a:endParaRPr/>
          </a:p>
          <a:p>
            <a:pPr indent="-311150" lvl="0" marL="457200" rtl="0" algn="l">
              <a:spcBef>
                <a:spcPts val="0"/>
              </a:spcBef>
              <a:spcAft>
                <a:spcPts val="0"/>
              </a:spcAft>
              <a:buSzPts val="1300"/>
              <a:buChar char="●"/>
            </a:pPr>
            <a:r>
              <a:rPr lang="en"/>
              <a:t>Higher </a:t>
            </a:r>
            <a:r>
              <a:rPr lang="en"/>
              <a:t>Inventory</a:t>
            </a:r>
            <a:r>
              <a:rPr lang="en"/>
              <a:t> turnover rate of 33 days from 2022</a:t>
            </a:r>
            <a:endParaRPr/>
          </a:p>
        </p:txBody>
      </p:sp>
      <p:pic>
        <p:nvPicPr>
          <p:cNvPr id="207" name="Google Shape;207;p22" title="download.jpg"/>
          <p:cNvPicPr preferRelativeResize="0"/>
          <p:nvPr/>
        </p:nvPicPr>
        <p:blipFill>
          <a:blip r:embed="rId3">
            <a:alphaModFix/>
          </a:blip>
          <a:stretch>
            <a:fillRect/>
          </a:stretch>
        </p:blipFill>
        <p:spPr>
          <a:xfrm>
            <a:off x="7372687" y="2571747"/>
            <a:ext cx="1710960" cy="1510513"/>
          </a:xfrm>
          <a:prstGeom prst="rect">
            <a:avLst/>
          </a:prstGeom>
          <a:noFill/>
          <a:ln>
            <a:noFill/>
          </a:ln>
        </p:spPr>
      </p:pic>
      <p:pic>
        <p:nvPicPr>
          <p:cNvPr id="208" name="Google Shape;208;p22" title="download.jpg"/>
          <p:cNvPicPr preferRelativeResize="0"/>
          <p:nvPr/>
        </p:nvPicPr>
        <p:blipFill>
          <a:blip r:embed="rId4">
            <a:alphaModFix/>
          </a:blip>
          <a:stretch>
            <a:fillRect/>
          </a:stretch>
        </p:blipFill>
        <p:spPr>
          <a:xfrm>
            <a:off x="5557446" y="2674221"/>
            <a:ext cx="1815225" cy="1207950"/>
          </a:xfrm>
          <a:prstGeom prst="rect">
            <a:avLst/>
          </a:prstGeom>
          <a:noFill/>
          <a:ln>
            <a:noFill/>
          </a:ln>
        </p:spPr>
      </p:pic>
      <p:sp>
        <p:nvSpPr>
          <p:cNvPr id="209" name="Google Shape;209;p22"/>
          <p:cNvSpPr txBox="1"/>
          <p:nvPr/>
        </p:nvSpPr>
        <p:spPr>
          <a:xfrm>
            <a:off x="7221825" y="4687475"/>
            <a:ext cx="1114500" cy="2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Lato"/>
                <a:ea typeface="Lato"/>
                <a:cs typeface="Lato"/>
                <a:sym typeface="Lato"/>
              </a:rPr>
              <a:t>Mihir</a:t>
            </a:r>
            <a:endParaRPr b="1" sz="1300">
              <a:solidFill>
                <a:schemeClr val="lt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3"/>
          <p:cNvSpPr txBox="1"/>
          <p:nvPr>
            <p:ph type="title"/>
          </p:nvPr>
        </p:nvSpPr>
        <p:spPr>
          <a:xfrm>
            <a:off x="699425" y="179750"/>
            <a:ext cx="6721500" cy="64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100"/>
              <a:t>Costco’s Supply Chain </a:t>
            </a:r>
            <a:r>
              <a:rPr lang="en" sz="2100"/>
              <a:t>Assessment</a:t>
            </a:r>
            <a:r>
              <a:rPr lang="en"/>
              <a:t>	</a:t>
            </a:r>
            <a:endParaRPr/>
          </a:p>
        </p:txBody>
      </p:sp>
      <p:sp>
        <p:nvSpPr>
          <p:cNvPr id="215" name="Google Shape;215;p23"/>
          <p:cNvSpPr txBox="1"/>
          <p:nvPr>
            <p:ph idx="1" type="body"/>
          </p:nvPr>
        </p:nvSpPr>
        <p:spPr>
          <a:xfrm>
            <a:off x="253200" y="1917475"/>
            <a:ext cx="8937300" cy="2933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Costco’s membership warehouse </a:t>
            </a:r>
            <a:r>
              <a:rPr lang="en"/>
              <a:t>business</a:t>
            </a:r>
            <a:r>
              <a:rPr lang="en"/>
              <a:t> model has unique strengths, in its simple low number of SKUs (stock keeping units) compared to other supermarkets, high inventory turnover due to selling in bulk, and large profits due to membership fees.</a:t>
            </a:r>
            <a:endParaRPr/>
          </a:p>
          <a:p>
            <a:pPr indent="-298450" lvl="1" marL="914400" rtl="0" algn="l">
              <a:spcBef>
                <a:spcPts val="0"/>
              </a:spcBef>
              <a:spcAft>
                <a:spcPts val="0"/>
              </a:spcAft>
              <a:buSzPts val="1100"/>
              <a:buAutoNum type="alphaLcPeriod"/>
            </a:pPr>
            <a:r>
              <a:rPr lang="en"/>
              <a:t>It also takes advantage of being a warehouse, acting both as a store and as storage simplifying their supply chain.</a:t>
            </a:r>
            <a:endParaRPr/>
          </a:p>
          <a:p>
            <a:pPr indent="-311150" lvl="0" marL="457200" rtl="0" algn="l">
              <a:spcBef>
                <a:spcPts val="0"/>
              </a:spcBef>
              <a:spcAft>
                <a:spcPts val="0"/>
              </a:spcAft>
              <a:buSzPts val="1300"/>
              <a:buChar char="●"/>
            </a:pPr>
            <a:r>
              <a:rPr lang="en"/>
              <a:t>Costco utilizes a cross-docking system, where products are delivered directly to the end customer from a distribution docking terminal, in this case their warehouse.</a:t>
            </a:r>
            <a:endParaRPr/>
          </a:p>
          <a:p>
            <a:pPr indent="-298450" lvl="1" marL="914400" rtl="0" algn="l">
              <a:spcBef>
                <a:spcPts val="0"/>
              </a:spcBef>
              <a:spcAft>
                <a:spcPts val="0"/>
              </a:spcAft>
              <a:buSzPts val="1100"/>
              <a:buAutoNum type="alphaLcPeriod"/>
            </a:pPr>
            <a:r>
              <a:rPr lang="en"/>
              <a:t>This means products are brought into a Costco depot, then to a truck delivering the goods to whatever warehouse ordered it.</a:t>
            </a:r>
            <a:endParaRPr/>
          </a:p>
          <a:p>
            <a:pPr indent="-311150" lvl="0" marL="457200" rtl="0" algn="l">
              <a:spcBef>
                <a:spcPts val="0"/>
              </a:spcBef>
              <a:spcAft>
                <a:spcPts val="0"/>
              </a:spcAft>
              <a:buSzPts val="1300"/>
              <a:buChar char="●"/>
            </a:pPr>
            <a:r>
              <a:rPr lang="en"/>
              <a:t>Their simplicity allows for adaptability, shifting sourcing for Kirkland goods to local markets after President Trump’s tariffs, and diversifying their suppliers to reduce price spikes.</a:t>
            </a:r>
            <a:endParaRPr/>
          </a:p>
          <a:p>
            <a:pPr indent="-311150" lvl="0" marL="457200" rtl="0" algn="l">
              <a:spcBef>
                <a:spcPts val="0"/>
              </a:spcBef>
              <a:spcAft>
                <a:spcPts val="0"/>
              </a:spcAft>
              <a:buSzPts val="1300"/>
              <a:buChar char="●"/>
            </a:pPr>
            <a:r>
              <a:rPr lang="en"/>
              <a:t>Despite massive constraints due to tariffs, Costco seemingly navigated the issue so far, and their strong logistics and simple business model is an exemplary supply chain system.</a:t>
            </a:r>
            <a:endParaRPr/>
          </a:p>
        </p:txBody>
      </p:sp>
      <p:pic>
        <p:nvPicPr>
          <p:cNvPr id="216" name="Google Shape;216;p23"/>
          <p:cNvPicPr preferRelativeResize="0"/>
          <p:nvPr/>
        </p:nvPicPr>
        <p:blipFill>
          <a:blip r:embed="rId3">
            <a:alphaModFix/>
          </a:blip>
          <a:stretch>
            <a:fillRect/>
          </a:stretch>
        </p:blipFill>
        <p:spPr>
          <a:xfrm>
            <a:off x="5876150" y="0"/>
            <a:ext cx="3314350" cy="1917475"/>
          </a:xfrm>
          <a:prstGeom prst="rect">
            <a:avLst/>
          </a:prstGeom>
          <a:noFill/>
          <a:ln>
            <a:noFill/>
          </a:ln>
        </p:spPr>
      </p:pic>
      <p:sp>
        <p:nvSpPr>
          <p:cNvPr id="217" name="Google Shape;217;p23"/>
          <p:cNvSpPr txBox="1"/>
          <p:nvPr/>
        </p:nvSpPr>
        <p:spPr>
          <a:xfrm>
            <a:off x="7198925" y="4308300"/>
            <a:ext cx="1806600" cy="64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Montserrat"/>
                <a:ea typeface="Montserrat"/>
                <a:cs typeface="Montserrat"/>
                <a:sym typeface="Montserrat"/>
              </a:rPr>
              <a:t>Ethan</a:t>
            </a:r>
            <a:endParaRPr sz="1300">
              <a:solidFill>
                <a:schemeClr val="l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Key Issues</a:t>
            </a:r>
            <a:endParaRPr/>
          </a:p>
        </p:txBody>
      </p:sp>
      <p:sp>
        <p:nvSpPr>
          <p:cNvPr id="223" name="Google Shape;223;p24"/>
          <p:cNvSpPr txBox="1"/>
          <p:nvPr>
            <p:ph idx="1" type="body"/>
          </p:nvPr>
        </p:nvSpPr>
        <p:spPr>
          <a:xfrm>
            <a:off x="161125" y="1552575"/>
            <a:ext cx="7038900" cy="3433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Despite Costco’s general success, there are still some issues that they must address:</a:t>
            </a:r>
            <a:endParaRPr/>
          </a:p>
          <a:p>
            <a:pPr indent="-311150" lvl="0" marL="457200" rtl="0" algn="l">
              <a:spcBef>
                <a:spcPts val="1200"/>
              </a:spcBef>
              <a:spcAft>
                <a:spcPts val="0"/>
              </a:spcAft>
              <a:buSzPts val="1300"/>
              <a:buAutoNum type="arabicPeriod"/>
            </a:pPr>
            <a:r>
              <a:rPr lang="en"/>
              <a:t>Recalls and Supplier Risks: In recent years, Costco’s dependence on third party manufacturers can create </a:t>
            </a:r>
            <a:r>
              <a:rPr lang="en"/>
              <a:t>quality</a:t>
            </a:r>
            <a:r>
              <a:rPr lang="en"/>
              <a:t> oversight. 90% of </a:t>
            </a:r>
            <a:r>
              <a:rPr lang="en"/>
              <a:t>Kirkland's</a:t>
            </a:r>
            <a:r>
              <a:rPr lang="en"/>
              <a:t> products are outsourced creating both flexibility and major quality recalls. </a:t>
            </a:r>
            <a:r>
              <a:rPr lang="en"/>
              <a:t>In recent years their salmon and egg products had signs of serious health risks showing gaps in supply quality control.</a:t>
            </a:r>
            <a:endParaRPr/>
          </a:p>
          <a:p>
            <a:pPr indent="-311150" lvl="0" marL="457200" rtl="0" algn="l">
              <a:spcBef>
                <a:spcPts val="0"/>
              </a:spcBef>
              <a:spcAft>
                <a:spcPts val="0"/>
              </a:spcAft>
              <a:buSzPts val="1300"/>
              <a:buAutoNum type="arabicPeriod"/>
            </a:pPr>
            <a:r>
              <a:rPr lang="en"/>
              <a:t>Weaker E-Commerce: Despite their growing online presence, there are still many reports of shipment and </a:t>
            </a:r>
            <a:r>
              <a:rPr lang="en"/>
              <a:t>delivery</a:t>
            </a:r>
            <a:r>
              <a:rPr lang="en"/>
              <a:t> delays, alongside poor </a:t>
            </a:r>
            <a:r>
              <a:rPr lang="en"/>
              <a:t>communication</a:t>
            </a:r>
            <a:r>
              <a:rPr lang="en"/>
              <a:t> with customers when orders are delayed. </a:t>
            </a:r>
            <a:endParaRPr/>
          </a:p>
          <a:p>
            <a:pPr indent="-311150" lvl="0" marL="457200" rtl="0" algn="l">
              <a:spcBef>
                <a:spcPts val="0"/>
              </a:spcBef>
              <a:spcAft>
                <a:spcPts val="0"/>
              </a:spcAft>
              <a:buSzPts val="1300"/>
              <a:buAutoNum type="arabicPeriod"/>
            </a:pPr>
            <a:r>
              <a:rPr lang="en"/>
              <a:t>Rising Costs from Tariffs and Freight: In response to the tariffs, Costco has been purchasing extra inventory in order to mitigate price spikes, however it adds costs for storage, spoilage, or demand for certain products decreasing overtime.</a:t>
            </a:r>
            <a:endParaRPr/>
          </a:p>
        </p:txBody>
      </p:sp>
      <p:pic>
        <p:nvPicPr>
          <p:cNvPr id="224" name="Google Shape;224;p24"/>
          <p:cNvPicPr preferRelativeResize="0"/>
          <p:nvPr/>
        </p:nvPicPr>
        <p:blipFill>
          <a:blip r:embed="rId3">
            <a:alphaModFix/>
          </a:blip>
          <a:stretch>
            <a:fillRect/>
          </a:stretch>
        </p:blipFill>
        <p:spPr>
          <a:xfrm>
            <a:off x="7504825" y="0"/>
            <a:ext cx="1639175" cy="2046930"/>
          </a:xfrm>
          <a:prstGeom prst="rect">
            <a:avLst/>
          </a:prstGeom>
          <a:noFill/>
          <a:ln>
            <a:noFill/>
          </a:ln>
        </p:spPr>
      </p:pic>
      <p:pic>
        <p:nvPicPr>
          <p:cNvPr id="225" name="Google Shape;225;p24"/>
          <p:cNvPicPr preferRelativeResize="0"/>
          <p:nvPr/>
        </p:nvPicPr>
        <p:blipFill>
          <a:blip r:embed="rId4">
            <a:alphaModFix/>
          </a:blip>
          <a:stretch>
            <a:fillRect/>
          </a:stretch>
        </p:blipFill>
        <p:spPr>
          <a:xfrm>
            <a:off x="4938582" y="0"/>
            <a:ext cx="2566243" cy="1443150"/>
          </a:xfrm>
          <a:prstGeom prst="rect">
            <a:avLst/>
          </a:prstGeom>
          <a:noFill/>
          <a:ln>
            <a:noFill/>
          </a:ln>
        </p:spPr>
      </p:pic>
      <p:sp>
        <p:nvSpPr>
          <p:cNvPr id="226" name="Google Shape;226;p24"/>
          <p:cNvSpPr/>
          <p:nvPr/>
        </p:nvSpPr>
        <p:spPr>
          <a:xfrm>
            <a:off x="6907850" y="3588500"/>
            <a:ext cx="2236200" cy="1480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27" name="Google Shape;227;p24"/>
          <p:cNvPicPr preferRelativeResize="0"/>
          <p:nvPr/>
        </p:nvPicPr>
        <p:blipFill>
          <a:blip r:embed="rId5">
            <a:alphaModFix/>
          </a:blip>
          <a:stretch>
            <a:fillRect/>
          </a:stretch>
        </p:blipFill>
        <p:spPr>
          <a:xfrm>
            <a:off x="6915324" y="3575900"/>
            <a:ext cx="2228675" cy="1491900"/>
          </a:xfrm>
          <a:prstGeom prst="rect">
            <a:avLst/>
          </a:prstGeom>
          <a:noFill/>
          <a:ln>
            <a:noFill/>
          </a:ln>
        </p:spPr>
      </p:pic>
      <p:sp>
        <p:nvSpPr>
          <p:cNvPr id="228" name="Google Shape;228;p24"/>
          <p:cNvSpPr txBox="1"/>
          <p:nvPr/>
        </p:nvSpPr>
        <p:spPr>
          <a:xfrm>
            <a:off x="5806775" y="4426100"/>
            <a:ext cx="1806600" cy="64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Montserrat"/>
                <a:ea typeface="Montserrat"/>
                <a:cs typeface="Montserrat"/>
                <a:sym typeface="Montserrat"/>
              </a:rPr>
              <a:t>Ethan</a:t>
            </a:r>
            <a:endParaRPr sz="1300">
              <a:solidFill>
                <a:schemeClr val="lt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5"/>
          <p:cNvSpPr txBox="1"/>
          <p:nvPr>
            <p:ph type="title"/>
          </p:nvPr>
        </p:nvSpPr>
        <p:spPr>
          <a:xfrm>
            <a:off x="1297500" y="393750"/>
            <a:ext cx="49536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Some Potential Improvements</a:t>
            </a:r>
            <a:endParaRPr/>
          </a:p>
        </p:txBody>
      </p:sp>
      <p:sp>
        <p:nvSpPr>
          <p:cNvPr id="234" name="Google Shape;234;p25"/>
          <p:cNvSpPr txBox="1"/>
          <p:nvPr>
            <p:ph idx="1" type="body"/>
          </p:nvPr>
        </p:nvSpPr>
        <p:spPr>
          <a:xfrm>
            <a:off x="604000" y="1447925"/>
            <a:ext cx="7038900" cy="3576000"/>
          </a:xfrm>
          <a:prstGeom prst="rect">
            <a:avLst/>
          </a:prstGeom>
        </p:spPr>
        <p:txBody>
          <a:bodyPr anchorCtr="0" anchor="t" bIns="91425" lIns="91425" spcFirstLastPara="1" rIns="91425" wrap="square" tIns="91425">
            <a:normAutofit/>
          </a:bodyPr>
          <a:lstStyle/>
          <a:p>
            <a:pPr indent="-304800" lvl="0" marL="457200" rtl="0" algn="l">
              <a:lnSpc>
                <a:spcPct val="115000"/>
              </a:lnSpc>
              <a:spcBef>
                <a:spcPts val="0"/>
              </a:spcBef>
              <a:spcAft>
                <a:spcPts val="0"/>
              </a:spcAft>
              <a:buSzPts val="1200"/>
              <a:buAutoNum type="arabicPeriod"/>
            </a:pPr>
            <a:r>
              <a:rPr lang="en" sz="1200"/>
              <a:t>Recall and Supplier Risks: Some solutions to these issues can be on-site inspections for goods with high risks of contamination like salmon and eggs and investing more into supplier training.This would cost more, but the investment would be </a:t>
            </a:r>
            <a:r>
              <a:rPr lang="en" sz="1200"/>
              <a:t>negligible</a:t>
            </a:r>
            <a:r>
              <a:rPr lang="en" sz="1200"/>
              <a:t> </a:t>
            </a:r>
            <a:r>
              <a:rPr lang="en" sz="1200"/>
              <a:t>compared</a:t>
            </a:r>
            <a:r>
              <a:rPr lang="en" sz="1200"/>
              <a:t> to the cost from multiple recalls disrupting sales and creating distrust in consumers. These solutions strengthen both customer trust, but also reinforce the prominent domestic suppliers relationship with Costco.</a:t>
            </a:r>
            <a:endParaRPr sz="1200"/>
          </a:p>
          <a:p>
            <a:pPr indent="-304800" lvl="0" marL="457200" rtl="0" algn="l">
              <a:lnSpc>
                <a:spcPct val="115000"/>
              </a:lnSpc>
              <a:spcBef>
                <a:spcPts val="0"/>
              </a:spcBef>
              <a:spcAft>
                <a:spcPts val="0"/>
              </a:spcAft>
              <a:buSzPts val="1200"/>
              <a:buAutoNum type="arabicPeriod"/>
            </a:pPr>
            <a:r>
              <a:rPr lang="en" sz="1200"/>
              <a:t>E-commerce Issues: Improving communication will come with time and proper training. Can take advantage of tiered memberships to monetize convenience i.e faster delivery in order to offset costs of delivering </a:t>
            </a:r>
            <a:r>
              <a:rPr lang="en" sz="1200"/>
              <a:t>large</a:t>
            </a:r>
            <a:r>
              <a:rPr lang="en" sz="1200"/>
              <a:t> items like furniture. Can also further advertise their partnerships with </a:t>
            </a:r>
            <a:r>
              <a:rPr lang="en" sz="1200"/>
              <a:t>Instacart</a:t>
            </a:r>
            <a:r>
              <a:rPr lang="en" sz="1200"/>
              <a:t> to drive sales for their perishables. This way the speed at which orders can be completed improves without major costs.</a:t>
            </a:r>
            <a:endParaRPr sz="1200"/>
          </a:p>
          <a:p>
            <a:pPr indent="-304800" lvl="0" marL="457200" rtl="0" algn="l">
              <a:lnSpc>
                <a:spcPct val="115000"/>
              </a:lnSpc>
              <a:spcBef>
                <a:spcPts val="0"/>
              </a:spcBef>
              <a:spcAft>
                <a:spcPts val="0"/>
              </a:spcAft>
              <a:buSzPts val="1200"/>
              <a:buAutoNum type="arabicPeriod"/>
            </a:pPr>
            <a:r>
              <a:rPr lang="en" sz="1200"/>
              <a:t>Rising Costs: Use Long-term contracts with freight companies in order to lock in rates to prevent potential issues from more volatile periods. Slowly increase membership fees to absorb costs and continue their competitive prices. And utilize advancements in AI to calculate predicted stock and buy to prevent risk, but not enough to overstock shelves. This will build upon Costco’s already resilient supply chain.</a:t>
            </a:r>
            <a:endParaRPr sz="1200"/>
          </a:p>
        </p:txBody>
      </p:sp>
      <p:sp>
        <p:nvSpPr>
          <p:cNvPr id="235" name="Google Shape;235;p25"/>
          <p:cNvSpPr txBox="1"/>
          <p:nvPr/>
        </p:nvSpPr>
        <p:spPr>
          <a:xfrm>
            <a:off x="7593800" y="4258925"/>
            <a:ext cx="1806600" cy="64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Montserrat"/>
                <a:ea typeface="Montserrat"/>
                <a:cs typeface="Montserrat"/>
                <a:sym typeface="Montserrat"/>
              </a:rPr>
              <a:t>Ethan</a:t>
            </a:r>
            <a:endParaRPr sz="1300">
              <a:solidFill>
                <a:schemeClr val="lt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